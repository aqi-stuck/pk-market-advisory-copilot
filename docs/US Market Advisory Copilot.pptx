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9144000" cy="16256000"/>
  <p:embeddedFontLst>
    <p:embeddedFont>
      <p:font typeface="Liter" panose="020B0604020202020204" charset="0"/>
      <p:regular r:id="rId18"/>
    </p:embeddedFont>
    <p:embeddedFont>
      <p:font typeface="Quattrocento Sans" panose="020F0502020204030204" pitchFamily="3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41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3796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wio2jwpkg4yw2/mnt/agents/output/us-market-copilot/images/7_Abstract_Financial_Data_Visualization.png"/>
          <p:cNvPicPr>
            <a:picLocks noChangeAspect="1"/>
          </p:cNvPicPr>
          <p:nvPr/>
        </p:nvPicPr>
        <p:blipFill>
          <a:blip r:embed="rId3"/>
          <a:srcRect l="111" r="11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419">
                  <a:alpha val="0"/>
                </a:srgbClr>
              </a:gs>
              <a:gs pos="40000">
                <a:srgbClr val="0F1419">
                  <a:alpha val="50000"/>
                </a:srgbClr>
              </a:gs>
              <a:gs pos="100000">
                <a:srgbClr val="0F1419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6858000" y="3048000"/>
            <a:ext cx="2540000" cy="381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1778000" y="3302000"/>
            <a:ext cx="1270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kern="0" spc="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 MARKET ADVISORY COPILOT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3048000" y="5080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production-ready RAG platform for US market intelligence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Equities · Macro Data · Regulation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683000" y="6350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 · PostgreSQL · Qdrant · Azure OpenAI · Streamlit</a:t>
            </a:r>
            <a:endParaRPr lang="en-US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AAD8AA-BFE3-F32B-824A-1762D48D8D34}"/>
              </a:ext>
            </a:extLst>
          </p:cNvPr>
          <p:cNvSpPr/>
          <p:nvPr/>
        </p:nvSpPr>
        <p:spPr>
          <a:xfrm>
            <a:off x="11681460" y="6515100"/>
            <a:ext cx="2594610" cy="469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Syed Aqdas Munir</a:t>
            </a:r>
          </a:p>
          <a:p>
            <a:pPr algn="ctr"/>
            <a:r>
              <a:rPr lang="en-GB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B24F1373AI-030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84200"/>
            <a:ext cx="508000" cy="254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kern="0" spc="100" dirty="0">
                <a:solidFill>
                  <a:srgbClr val="1B253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PROJECT EXISTS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6921500" cy="3048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079500" y="2095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77800" y="0"/>
                </a:moveTo>
                <a:cubicBezTo>
                  <a:pt x="205819" y="0"/>
                  <a:pt x="228600" y="17066"/>
                  <a:pt x="228600" y="38100"/>
                </a:cubicBezTo>
                <a:cubicBezTo>
                  <a:pt x="228600" y="46355"/>
                  <a:pt x="225108" y="53975"/>
                  <a:pt x="219075" y="60246"/>
                </a:cubicBezTo>
                <a:cubicBezTo>
                  <a:pt x="213836" y="65723"/>
                  <a:pt x="209550" y="72390"/>
                  <a:pt x="209550" y="80010"/>
                </a:cubicBezTo>
                <a:cubicBezTo>
                  <a:pt x="209550" y="91916"/>
                  <a:pt x="219234" y="101600"/>
                  <a:pt x="231140" y="101600"/>
                </a:cubicBezTo>
                <a:lnTo>
                  <a:pt x="266700" y="101600"/>
                </a:lnTo>
                <a:cubicBezTo>
                  <a:pt x="287734" y="101600"/>
                  <a:pt x="304800" y="118666"/>
                  <a:pt x="304800" y="139700"/>
                </a:cubicBezTo>
                <a:lnTo>
                  <a:pt x="304800" y="175260"/>
                </a:lnTo>
                <a:cubicBezTo>
                  <a:pt x="304800" y="187166"/>
                  <a:pt x="314484" y="196850"/>
                  <a:pt x="326390" y="196850"/>
                </a:cubicBezTo>
                <a:cubicBezTo>
                  <a:pt x="333931" y="196850"/>
                  <a:pt x="340678" y="192564"/>
                  <a:pt x="346154" y="187325"/>
                </a:cubicBezTo>
                <a:cubicBezTo>
                  <a:pt x="352425" y="181372"/>
                  <a:pt x="360045" y="177800"/>
                  <a:pt x="368300" y="177800"/>
                </a:cubicBezTo>
                <a:cubicBezTo>
                  <a:pt x="389334" y="177800"/>
                  <a:pt x="406400" y="200581"/>
                  <a:pt x="406400" y="228600"/>
                </a:cubicBezTo>
                <a:cubicBezTo>
                  <a:pt x="406400" y="256619"/>
                  <a:pt x="389334" y="279400"/>
                  <a:pt x="368300" y="279400"/>
                </a:cubicBezTo>
                <a:cubicBezTo>
                  <a:pt x="360045" y="279400"/>
                  <a:pt x="352346" y="275908"/>
                  <a:pt x="346154" y="269875"/>
                </a:cubicBezTo>
                <a:cubicBezTo>
                  <a:pt x="340678" y="264636"/>
                  <a:pt x="334010" y="260350"/>
                  <a:pt x="326390" y="260350"/>
                </a:cubicBezTo>
                <a:cubicBezTo>
                  <a:pt x="314484" y="260350"/>
                  <a:pt x="304800" y="270034"/>
                  <a:pt x="304800" y="281940"/>
                </a:cubicBezTo>
                <a:lnTo>
                  <a:pt x="304800" y="368300"/>
                </a:lnTo>
                <a:cubicBezTo>
                  <a:pt x="304800" y="389334"/>
                  <a:pt x="287734" y="406400"/>
                  <a:pt x="266700" y="406400"/>
                </a:cubicBezTo>
                <a:lnTo>
                  <a:pt x="221615" y="406400"/>
                </a:lnTo>
                <a:cubicBezTo>
                  <a:pt x="211455" y="406400"/>
                  <a:pt x="203200" y="398145"/>
                  <a:pt x="203200" y="387985"/>
                </a:cubicBezTo>
                <a:cubicBezTo>
                  <a:pt x="203200" y="380683"/>
                  <a:pt x="207804" y="374253"/>
                  <a:pt x="213678" y="369888"/>
                </a:cubicBezTo>
                <a:cubicBezTo>
                  <a:pt x="222885" y="362982"/>
                  <a:pt x="228600" y="353457"/>
                  <a:pt x="228600" y="342900"/>
                </a:cubicBezTo>
                <a:cubicBezTo>
                  <a:pt x="228600" y="321866"/>
                  <a:pt x="205819" y="304800"/>
                  <a:pt x="177800" y="304800"/>
                </a:cubicBezTo>
                <a:cubicBezTo>
                  <a:pt x="149781" y="304800"/>
                  <a:pt x="127000" y="321866"/>
                  <a:pt x="127000" y="342900"/>
                </a:cubicBezTo>
                <a:cubicBezTo>
                  <a:pt x="127000" y="353457"/>
                  <a:pt x="132715" y="362982"/>
                  <a:pt x="141923" y="369888"/>
                </a:cubicBezTo>
                <a:cubicBezTo>
                  <a:pt x="147796" y="374253"/>
                  <a:pt x="152400" y="380603"/>
                  <a:pt x="152400" y="387985"/>
                </a:cubicBezTo>
                <a:cubicBezTo>
                  <a:pt x="152400" y="398145"/>
                  <a:pt x="144145" y="406400"/>
                  <a:pt x="133985" y="406400"/>
                </a:cubicBezTo>
                <a:lnTo>
                  <a:pt x="38100" y="406400"/>
                </a:lnTo>
                <a:cubicBezTo>
                  <a:pt x="17066" y="406400"/>
                  <a:pt x="0" y="389334"/>
                  <a:pt x="0" y="368300"/>
                </a:cubicBezTo>
                <a:lnTo>
                  <a:pt x="0" y="272415"/>
                </a:lnTo>
                <a:cubicBezTo>
                  <a:pt x="0" y="262255"/>
                  <a:pt x="8255" y="254000"/>
                  <a:pt x="18415" y="254000"/>
                </a:cubicBezTo>
                <a:cubicBezTo>
                  <a:pt x="25717" y="254000"/>
                  <a:pt x="32147" y="258604"/>
                  <a:pt x="36513" y="264478"/>
                </a:cubicBezTo>
                <a:cubicBezTo>
                  <a:pt x="43418" y="273685"/>
                  <a:pt x="52943" y="279400"/>
                  <a:pt x="63500" y="279400"/>
                </a:cubicBezTo>
                <a:cubicBezTo>
                  <a:pt x="84534" y="279400"/>
                  <a:pt x="101600" y="256619"/>
                  <a:pt x="101600" y="228600"/>
                </a:cubicBezTo>
                <a:cubicBezTo>
                  <a:pt x="101600" y="200581"/>
                  <a:pt x="84534" y="177800"/>
                  <a:pt x="63500" y="177800"/>
                </a:cubicBezTo>
                <a:cubicBezTo>
                  <a:pt x="52943" y="177800"/>
                  <a:pt x="43418" y="183515"/>
                  <a:pt x="36513" y="192723"/>
                </a:cubicBezTo>
                <a:cubicBezTo>
                  <a:pt x="32147" y="198596"/>
                  <a:pt x="25797" y="203200"/>
                  <a:pt x="18415" y="203200"/>
                </a:cubicBezTo>
                <a:cubicBezTo>
                  <a:pt x="8255" y="203200"/>
                  <a:pt x="0" y="194945"/>
                  <a:pt x="0" y="184785"/>
                </a:cubicBezTo>
                <a:lnTo>
                  <a:pt x="0" y="139700"/>
                </a:lnTo>
                <a:cubicBezTo>
                  <a:pt x="0" y="118666"/>
                  <a:pt x="17066" y="101600"/>
                  <a:pt x="38100" y="101600"/>
                </a:cubicBezTo>
                <a:lnTo>
                  <a:pt x="124460" y="101600"/>
                </a:lnTo>
                <a:cubicBezTo>
                  <a:pt x="136366" y="101600"/>
                  <a:pt x="146050" y="91916"/>
                  <a:pt x="146050" y="80010"/>
                </a:cubicBezTo>
                <a:cubicBezTo>
                  <a:pt x="146050" y="72469"/>
                  <a:pt x="141764" y="65723"/>
                  <a:pt x="136525" y="60246"/>
                </a:cubicBezTo>
                <a:cubicBezTo>
                  <a:pt x="130572" y="53975"/>
                  <a:pt x="127000" y="46355"/>
                  <a:pt x="127000" y="38100"/>
                </a:cubicBezTo>
                <a:cubicBezTo>
                  <a:pt x="127000" y="17066"/>
                  <a:pt x="149781" y="0"/>
                  <a:pt x="177800" y="0"/>
                </a:cubicBezTo>
                <a:close/>
              </a:path>
            </a:pathLst>
          </a:cu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79500" y="2667000"/>
            <a:ext cx="6286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Fragmented Analysis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Market analysis is fragmented across multiple sources, forcing analysts to waste time gathering context from scattered data.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064500" y="1778000"/>
            <a:ext cx="6921500" cy="3048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8382000" y="2095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ubicBezTo>
                  <a:pt x="0" y="91051"/>
                  <a:pt x="91051" y="0"/>
                  <a:pt x="203200" y="0"/>
                </a:cubicBezTo>
                <a:close/>
                <a:moveTo>
                  <a:pt x="184150" y="95250"/>
                </a:moveTo>
                <a:lnTo>
                  <a:pt x="184150" y="203200"/>
                </a:lnTo>
                <a:cubicBezTo>
                  <a:pt x="184150" y="209550"/>
                  <a:pt x="187325" y="215503"/>
                  <a:pt x="192643" y="219075"/>
                </a:cubicBezTo>
                <a:lnTo>
                  <a:pt x="268843" y="269875"/>
                </a:lnTo>
                <a:cubicBezTo>
                  <a:pt x="277574" y="275749"/>
                  <a:pt x="289401" y="273368"/>
                  <a:pt x="295275" y="264557"/>
                </a:cubicBezTo>
                <a:cubicBezTo>
                  <a:pt x="301149" y="255746"/>
                  <a:pt x="298768" y="243999"/>
                  <a:pt x="289957" y="238125"/>
                </a:cubicBezTo>
                <a:lnTo>
                  <a:pt x="222250" y="193040"/>
                </a:lnTo>
                <a:lnTo>
                  <a:pt x="222250" y="95250"/>
                </a:lnTo>
                <a:cubicBezTo>
                  <a:pt x="222250" y="84693"/>
                  <a:pt x="213757" y="76200"/>
                  <a:pt x="203200" y="76200"/>
                </a:cubicBezTo>
                <a:cubicBezTo>
                  <a:pt x="192643" y="76200"/>
                  <a:pt x="184150" y="84693"/>
                  <a:pt x="184150" y="95250"/>
                </a:cubicBezTo>
                <a:close/>
              </a:path>
            </a:pathLst>
          </a:cu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382000" y="2667000"/>
            <a:ext cx="6286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Decision Latency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Analysts lose time stitching together noisy or stale data, creating bottlenecks in critical decision workflows.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5143500"/>
            <a:ext cx="6921500" cy="3048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028700" y="5461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279400" y="0"/>
                </a:moveTo>
                <a:cubicBezTo>
                  <a:pt x="279400" y="-14049"/>
                  <a:pt x="268049" y="-25400"/>
                  <a:pt x="254000" y="-25400"/>
                </a:cubicBezTo>
                <a:cubicBezTo>
                  <a:pt x="239951" y="-25400"/>
                  <a:pt x="228600" y="-14049"/>
                  <a:pt x="228600" y="0"/>
                </a:cubicBezTo>
                <a:lnTo>
                  <a:pt x="228600" y="50800"/>
                </a:lnTo>
                <a:lnTo>
                  <a:pt x="152400" y="50800"/>
                </a:lnTo>
                <a:cubicBezTo>
                  <a:pt x="110331" y="50800"/>
                  <a:pt x="76200" y="84931"/>
                  <a:pt x="76200" y="127000"/>
                </a:cubicBezTo>
                <a:lnTo>
                  <a:pt x="76200" y="304800"/>
                </a:lnTo>
                <a:cubicBezTo>
                  <a:pt x="76200" y="346869"/>
                  <a:pt x="110331" y="381000"/>
                  <a:pt x="152400" y="381000"/>
                </a:cubicBezTo>
                <a:lnTo>
                  <a:pt x="355600" y="381000"/>
                </a:lnTo>
                <a:cubicBezTo>
                  <a:pt x="397669" y="381000"/>
                  <a:pt x="431800" y="346869"/>
                  <a:pt x="431800" y="304800"/>
                </a:cubicBezTo>
                <a:lnTo>
                  <a:pt x="431800" y="127000"/>
                </a:lnTo>
                <a:cubicBezTo>
                  <a:pt x="431800" y="84931"/>
                  <a:pt x="397669" y="50800"/>
                  <a:pt x="355600" y="50800"/>
                </a:cubicBezTo>
                <a:lnTo>
                  <a:pt x="279400" y="50800"/>
                </a:lnTo>
                <a:lnTo>
                  <a:pt x="279400" y="0"/>
                </a:lnTo>
                <a:close/>
                <a:moveTo>
                  <a:pt x="127000" y="292100"/>
                </a:moveTo>
                <a:cubicBezTo>
                  <a:pt x="127000" y="281543"/>
                  <a:pt x="135493" y="273050"/>
                  <a:pt x="146050" y="273050"/>
                </a:cubicBezTo>
                <a:lnTo>
                  <a:pt x="171450" y="273050"/>
                </a:lnTo>
                <a:cubicBezTo>
                  <a:pt x="182007" y="273050"/>
                  <a:pt x="190500" y="281543"/>
                  <a:pt x="190500" y="292100"/>
                </a:cubicBezTo>
                <a:cubicBezTo>
                  <a:pt x="190500" y="302657"/>
                  <a:pt x="182007" y="311150"/>
                  <a:pt x="171450" y="311150"/>
                </a:cubicBezTo>
                <a:lnTo>
                  <a:pt x="146050" y="311150"/>
                </a:lnTo>
                <a:cubicBezTo>
                  <a:pt x="135493" y="311150"/>
                  <a:pt x="127000" y="302657"/>
                  <a:pt x="127000" y="292100"/>
                </a:cubicBezTo>
                <a:close/>
                <a:moveTo>
                  <a:pt x="222250" y="292100"/>
                </a:moveTo>
                <a:cubicBezTo>
                  <a:pt x="222250" y="281543"/>
                  <a:pt x="230743" y="273050"/>
                  <a:pt x="241300" y="273050"/>
                </a:cubicBezTo>
                <a:lnTo>
                  <a:pt x="266700" y="273050"/>
                </a:lnTo>
                <a:cubicBezTo>
                  <a:pt x="277257" y="273050"/>
                  <a:pt x="285750" y="281543"/>
                  <a:pt x="285750" y="292100"/>
                </a:cubicBezTo>
                <a:cubicBezTo>
                  <a:pt x="285750" y="302657"/>
                  <a:pt x="277257" y="311150"/>
                  <a:pt x="266700" y="311150"/>
                </a:cubicBezTo>
                <a:lnTo>
                  <a:pt x="241300" y="311150"/>
                </a:lnTo>
                <a:cubicBezTo>
                  <a:pt x="230743" y="311150"/>
                  <a:pt x="222250" y="302657"/>
                  <a:pt x="222250" y="292100"/>
                </a:cubicBezTo>
                <a:close/>
                <a:moveTo>
                  <a:pt x="317500" y="292100"/>
                </a:moveTo>
                <a:cubicBezTo>
                  <a:pt x="317500" y="281543"/>
                  <a:pt x="325993" y="273050"/>
                  <a:pt x="336550" y="273050"/>
                </a:cubicBezTo>
                <a:lnTo>
                  <a:pt x="361950" y="273050"/>
                </a:lnTo>
                <a:cubicBezTo>
                  <a:pt x="372507" y="273050"/>
                  <a:pt x="381000" y="281543"/>
                  <a:pt x="381000" y="292100"/>
                </a:cubicBezTo>
                <a:cubicBezTo>
                  <a:pt x="381000" y="302657"/>
                  <a:pt x="372507" y="311150"/>
                  <a:pt x="361950" y="311150"/>
                </a:cubicBezTo>
                <a:lnTo>
                  <a:pt x="336550" y="311150"/>
                </a:lnTo>
                <a:cubicBezTo>
                  <a:pt x="325993" y="311150"/>
                  <a:pt x="317500" y="302657"/>
                  <a:pt x="317500" y="292100"/>
                </a:cubicBezTo>
                <a:close/>
                <a:moveTo>
                  <a:pt x="177800" y="139700"/>
                </a:moveTo>
                <a:cubicBezTo>
                  <a:pt x="198828" y="139700"/>
                  <a:pt x="215900" y="156772"/>
                  <a:pt x="215900" y="177800"/>
                </a:cubicBezTo>
                <a:cubicBezTo>
                  <a:pt x="215900" y="198828"/>
                  <a:pt x="198828" y="215900"/>
                  <a:pt x="177800" y="215900"/>
                </a:cubicBezTo>
                <a:cubicBezTo>
                  <a:pt x="156772" y="215900"/>
                  <a:pt x="139700" y="198828"/>
                  <a:pt x="139700" y="177800"/>
                </a:cubicBezTo>
                <a:cubicBezTo>
                  <a:pt x="139700" y="156772"/>
                  <a:pt x="156772" y="139700"/>
                  <a:pt x="177800" y="139700"/>
                </a:cubicBezTo>
                <a:close/>
                <a:moveTo>
                  <a:pt x="292100" y="177800"/>
                </a:moveTo>
                <a:cubicBezTo>
                  <a:pt x="292100" y="156772"/>
                  <a:pt x="309172" y="139700"/>
                  <a:pt x="330200" y="139700"/>
                </a:cubicBezTo>
                <a:cubicBezTo>
                  <a:pt x="351228" y="139700"/>
                  <a:pt x="368300" y="156772"/>
                  <a:pt x="368300" y="177800"/>
                </a:cubicBezTo>
                <a:cubicBezTo>
                  <a:pt x="368300" y="198828"/>
                  <a:pt x="351228" y="215900"/>
                  <a:pt x="330200" y="215900"/>
                </a:cubicBezTo>
                <a:cubicBezTo>
                  <a:pt x="309172" y="215900"/>
                  <a:pt x="292100" y="198828"/>
                  <a:pt x="292100" y="177800"/>
                </a:cubicBezTo>
                <a:close/>
                <a:moveTo>
                  <a:pt x="50800" y="177800"/>
                </a:moveTo>
                <a:cubicBezTo>
                  <a:pt x="50800" y="163751"/>
                  <a:pt x="39449" y="152400"/>
                  <a:pt x="25400" y="152400"/>
                </a:cubicBezTo>
                <a:cubicBezTo>
                  <a:pt x="11351" y="152400"/>
                  <a:pt x="0" y="163751"/>
                  <a:pt x="0" y="177800"/>
                </a:cubicBezTo>
                <a:lnTo>
                  <a:pt x="0" y="254000"/>
                </a:lnTo>
                <a:cubicBezTo>
                  <a:pt x="0" y="268049"/>
                  <a:pt x="11351" y="279400"/>
                  <a:pt x="25400" y="279400"/>
                </a:cubicBezTo>
                <a:cubicBezTo>
                  <a:pt x="39449" y="279400"/>
                  <a:pt x="50800" y="268049"/>
                  <a:pt x="50800" y="254000"/>
                </a:cubicBezTo>
                <a:lnTo>
                  <a:pt x="50800" y="177800"/>
                </a:lnTo>
                <a:close/>
                <a:moveTo>
                  <a:pt x="482600" y="152400"/>
                </a:moveTo>
                <a:cubicBezTo>
                  <a:pt x="468551" y="152400"/>
                  <a:pt x="457200" y="163751"/>
                  <a:pt x="457200" y="177800"/>
                </a:cubicBezTo>
                <a:lnTo>
                  <a:pt x="457200" y="254000"/>
                </a:lnTo>
                <a:cubicBezTo>
                  <a:pt x="457200" y="268049"/>
                  <a:pt x="468551" y="279400"/>
                  <a:pt x="482600" y="279400"/>
                </a:cubicBezTo>
                <a:cubicBezTo>
                  <a:pt x="496649" y="279400"/>
                  <a:pt x="508000" y="268049"/>
                  <a:pt x="508000" y="254000"/>
                </a:cubicBezTo>
                <a:lnTo>
                  <a:pt x="508000" y="177800"/>
                </a:lnTo>
                <a:cubicBezTo>
                  <a:pt x="508000" y="163751"/>
                  <a:pt x="496649" y="152400"/>
                  <a:pt x="482600" y="152400"/>
                </a:cubicBezTo>
                <a:close/>
              </a:path>
            </a:pathLst>
          </a:cu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079500" y="6032500"/>
            <a:ext cx="6286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Hallucination Risk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Generic chat tools often hallucinate or miss citations, producing fluent but unverified answers that erode trust.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64500" y="5143500"/>
            <a:ext cx="6921500" cy="3048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8382000" y="546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0200" y="165100"/>
                </a:moveTo>
                <a:cubicBezTo>
                  <a:pt x="330200" y="201533"/>
                  <a:pt x="318373" y="235188"/>
                  <a:pt x="298450" y="262493"/>
                </a:cubicBezTo>
                <a:lnTo>
                  <a:pt x="398939" y="363061"/>
                </a:lnTo>
                <a:cubicBezTo>
                  <a:pt x="408861" y="372983"/>
                  <a:pt x="408861" y="389096"/>
                  <a:pt x="398939" y="399018"/>
                </a:cubicBezTo>
                <a:cubicBezTo>
                  <a:pt x="389017" y="408940"/>
                  <a:pt x="372904" y="408940"/>
                  <a:pt x="362982" y="399018"/>
                </a:cubicBezTo>
                <a:lnTo>
                  <a:pt x="262493" y="298450"/>
                </a:lnTo>
                <a:cubicBezTo>
                  <a:pt x="235188" y="318373"/>
                  <a:pt x="201533" y="330200"/>
                  <a:pt x="165100" y="330200"/>
                </a:cubicBezTo>
                <a:cubicBezTo>
                  <a:pt x="73898" y="330200"/>
                  <a:pt x="0" y="256302"/>
                  <a:pt x="0" y="165100"/>
                </a:cubicBezTo>
                <a:cubicBezTo>
                  <a:pt x="0" y="73898"/>
                  <a:pt x="73898" y="0"/>
                  <a:pt x="165100" y="0"/>
                </a:cubicBezTo>
                <a:cubicBezTo>
                  <a:pt x="256302" y="0"/>
                  <a:pt x="330200" y="73898"/>
                  <a:pt x="330200" y="165100"/>
                </a:cubicBezTo>
                <a:close/>
                <a:moveTo>
                  <a:pt x="165100" y="279400"/>
                </a:moveTo>
                <a:cubicBezTo>
                  <a:pt x="228184" y="279400"/>
                  <a:pt x="279400" y="228184"/>
                  <a:pt x="279400" y="165100"/>
                </a:cubicBezTo>
                <a:cubicBezTo>
                  <a:pt x="279400" y="102016"/>
                  <a:pt x="228184" y="50800"/>
                  <a:pt x="165100" y="50800"/>
                </a:cubicBezTo>
                <a:cubicBezTo>
                  <a:pt x="102016" y="50800"/>
                  <a:pt x="50800" y="102016"/>
                  <a:pt x="50800" y="165100"/>
                </a:cubicBezTo>
                <a:cubicBezTo>
                  <a:pt x="50800" y="228184"/>
                  <a:pt x="102016" y="279400"/>
                  <a:pt x="165100" y="279400"/>
                </a:cubicBezTo>
                <a:close/>
              </a:path>
            </a:pathLst>
          </a:cu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8382000" y="6032500"/>
            <a:ext cx="6286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Need for Grounding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Teams need fast, explainable, source-grounded responses with traceable citations for auditability.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/ 15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84200"/>
            <a:ext cx="508000" cy="254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kern="0" spc="100" dirty="0">
                <a:solidFill>
                  <a:srgbClr val="1B253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GOAL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62000" y="17145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1B253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Compress research time while preserving rigor.</a:t>
            </a:r>
            <a:r>
              <a:rPr lang="en-US" sz="2200" dirty="0">
                <a:solidFill>
                  <a:srgbClr val="1B253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Every response grounded in retrievable evidence.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3048000"/>
            <a:ext cx="6921500" cy="24765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762000" y="3048000"/>
            <a:ext cx="50800" cy="24765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079500" y="3302000"/>
            <a:ext cx="62865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C9A9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01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Fast, Grounded Answers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Deliver concise market answers constrained to available evidence only.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064500" y="3048000"/>
            <a:ext cx="6921500" cy="24765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8064500" y="3048000"/>
            <a:ext cx="50800" cy="24765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8382000" y="3302000"/>
            <a:ext cx="62865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C9A9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 Attribution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Include clear citations for every claim, enabling full auditability.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5842000"/>
            <a:ext cx="6921500" cy="24765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762000" y="5842000"/>
            <a:ext cx="50800" cy="24765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079500" y="6096000"/>
            <a:ext cx="62865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C9A9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Production Resilience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Support production operations with logging, health checks, and graceful failure handling.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064500" y="5842000"/>
            <a:ext cx="6921500" cy="24765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8064500" y="5842000"/>
            <a:ext cx="50800" cy="24765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8382000" y="6096000"/>
            <a:ext cx="62865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C9A9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Transparency Over Flash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Prioritize reliability and traceability over flashy but untraceable output.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 / 15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84200"/>
            <a:ext cx="508000" cy="254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kern="0" spc="100" dirty="0">
                <a:solidFill>
                  <a:srgbClr val="1B253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IT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62000" y="1905000"/>
            <a:ext cx="2667000" cy="2540000"/>
          </a:xfrm>
          <a:prstGeom prst="rect">
            <a:avLst/>
          </a:prstGeom>
          <a:solidFill>
            <a:srgbClr val="1B25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1809750" y="2159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381000" y="142875"/>
                </a:moveTo>
                <a:cubicBezTo>
                  <a:pt x="381000" y="239316"/>
                  <a:pt x="295672" y="317500"/>
                  <a:pt x="190500" y="317500"/>
                </a:cubicBezTo>
                <a:cubicBezTo>
                  <a:pt x="164009" y="317500"/>
                  <a:pt x="138807" y="312539"/>
                  <a:pt x="115888" y="303609"/>
                </a:cubicBezTo>
                <a:lnTo>
                  <a:pt x="34925" y="346472"/>
                </a:lnTo>
                <a:cubicBezTo>
                  <a:pt x="25698" y="351334"/>
                  <a:pt x="14387" y="349647"/>
                  <a:pt x="6945" y="342305"/>
                </a:cubicBezTo>
                <a:cubicBezTo>
                  <a:pt x="-496" y="334963"/>
                  <a:pt x="-2183" y="323552"/>
                  <a:pt x="2778" y="314325"/>
                </a:cubicBezTo>
                <a:lnTo>
                  <a:pt x="38100" y="247650"/>
                </a:lnTo>
                <a:cubicBezTo>
                  <a:pt x="14188" y="218480"/>
                  <a:pt x="0" y="182166"/>
                  <a:pt x="0" y="142875"/>
                </a:cubicBezTo>
                <a:cubicBezTo>
                  <a:pt x="0" y="46434"/>
                  <a:pt x="85328" y="-31750"/>
                  <a:pt x="190500" y="-31750"/>
                </a:cubicBezTo>
                <a:cubicBezTo>
                  <a:pt x="295672" y="-31750"/>
                  <a:pt x="381000" y="46434"/>
                  <a:pt x="381000" y="142875"/>
                </a:cubicBezTo>
                <a:close/>
                <a:moveTo>
                  <a:pt x="381000" y="508000"/>
                </a:moveTo>
                <a:cubicBezTo>
                  <a:pt x="287635" y="508000"/>
                  <a:pt x="209947" y="446385"/>
                  <a:pt x="193675" y="365125"/>
                </a:cubicBezTo>
                <a:cubicBezTo>
                  <a:pt x="312737" y="363637"/>
                  <a:pt x="416223" y="278904"/>
                  <a:pt x="427633" y="164009"/>
                </a:cubicBezTo>
                <a:cubicBezTo>
                  <a:pt x="510282" y="183059"/>
                  <a:pt x="571500" y="251619"/>
                  <a:pt x="571500" y="333375"/>
                </a:cubicBezTo>
                <a:cubicBezTo>
                  <a:pt x="571500" y="372666"/>
                  <a:pt x="557312" y="408980"/>
                  <a:pt x="533400" y="438150"/>
                </a:cubicBezTo>
                <a:lnTo>
                  <a:pt x="568722" y="504825"/>
                </a:lnTo>
                <a:cubicBezTo>
                  <a:pt x="573584" y="514052"/>
                  <a:pt x="571897" y="525363"/>
                  <a:pt x="564555" y="532805"/>
                </a:cubicBezTo>
                <a:cubicBezTo>
                  <a:pt x="557212" y="540246"/>
                  <a:pt x="545802" y="541933"/>
                  <a:pt x="536575" y="536972"/>
                </a:cubicBezTo>
                <a:lnTo>
                  <a:pt x="455612" y="494109"/>
                </a:lnTo>
                <a:cubicBezTo>
                  <a:pt x="432693" y="503039"/>
                  <a:pt x="407491" y="508000"/>
                  <a:pt x="381000" y="508000"/>
                </a:cubicBezTo>
                <a:close/>
              </a:path>
            </a:pathLst>
          </a:cu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952500" y="2794000"/>
            <a:ext cx="2286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Ask</a:t>
            </a:r>
            <a:endParaRPr lang="en-US" sz="1600" dirty="0"/>
          </a:p>
          <a:p>
            <a:pPr algn="ctr">
              <a:lnSpc>
                <a:spcPct val="14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Natural language question input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56000" y="3111500"/>
            <a:ext cx="508000" cy="0"/>
          </a:xfrm>
          <a:prstGeom prst="straightConnector1">
            <a:avLst/>
          </a:prstGeom>
          <a:noFill/>
          <a:ln w="25400">
            <a:solidFill>
              <a:srgbClr val="C9A96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191000" y="1905000"/>
            <a:ext cx="2667000" cy="2540000"/>
          </a:xfrm>
          <a:prstGeom prst="rect">
            <a:avLst/>
          </a:prstGeom>
          <a:solidFill>
            <a:srgbClr val="1B25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5302250" y="2159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444500" y="204192"/>
                </a:moveTo>
                <a:cubicBezTo>
                  <a:pt x="429816" y="213916"/>
                  <a:pt x="412948" y="221754"/>
                  <a:pt x="395387" y="228005"/>
                </a:cubicBezTo>
                <a:cubicBezTo>
                  <a:pt x="348754" y="244673"/>
                  <a:pt x="287536" y="254000"/>
                  <a:pt x="222250" y="254000"/>
                </a:cubicBezTo>
                <a:cubicBezTo>
                  <a:pt x="156964" y="254000"/>
                  <a:pt x="95647" y="244574"/>
                  <a:pt x="49113" y="228005"/>
                </a:cubicBezTo>
                <a:cubicBezTo>
                  <a:pt x="31651" y="221754"/>
                  <a:pt x="14684" y="213916"/>
                  <a:pt x="0" y="204192"/>
                </a:cubicBezTo>
                <a:lnTo>
                  <a:pt x="0" y="285750"/>
                </a:lnTo>
                <a:cubicBezTo>
                  <a:pt x="0" y="329605"/>
                  <a:pt x="99516" y="365125"/>
                  <a:pt x="222250" y="365125"/>
                </a:cubicBezTo>
                <a:cubicBezTo>
                  <a:pt x="344984" y="365125"/>
                  <a:pt x="444500" y="329605"/>
                  <a:pt x="444500" y="285750"/>
                </a:cubicBezTo>
                <a:lnTo>
                  <a:pt x="444500" y="204192"/>
                </a:lnTo>
                <a:close/>
                <a:moveTo>
                  <a:pt x="444500" y="127000"/>
                </a:moveTo>
                <a:lnTo>
                  <a:pt x="444500" y="79375"/>
                </a:lnTo>
                <a:cubicBezTo>
                  <a:pt x="444500" y="35520"/>
                  <a:pt x="344984" y="0"/>
                  <a:pt x="222250" y="0"/>
                </a:cubicBezTo>
                <a:cubicBezTo>
                  <a:pt x="99516" y="0"/>
                  <a:pt x="0" y="35520"/>
                  <a:pt x="0" y="79375"/>
                </a:cubicBezTo>
                <a:lnTo>
                  <a:pt x="0" y="127000"/>
                </a:lnTo>
                <a:cubicBezTo>
                  <a:pt x="0" y="170855"/>
                  <a:pt x="99516" y="206375"/>
                  <a:pt x="222250" y="206375"/>
                </a:cubicBezTo>
                <a:cubicBezTo>
                  <a:pt x="344984" y="206375"/>
                  <a:pt x="444500" y="170855"/>
                  <a:pt x="444500" y="127000"/>
                </a:cubicBezTo>
                <a:close/>
                <a:moveTo>
                  <a:pt x="395387" y="386755"/>
                </a:moveTo>
                <a:cubicBezTo>
                  <a:pt x="348853" y="403324"/>
                  <a:pt x="287635" y="412750"/>
                  <a:pt x="222250" y="412750"/>
                </a:cubicBezTo>
                <a:cubicBezTo>
                  <a:pt x="156865" y="412750"/>
                  <a:pt x="95647" y="403324"/>
                  <a:pt x="49113" y="386755"/>
                </a:cubicBezTo>
                <a:cubicBezTo>
                  <a:pt x="31651" y="380504"/>
                  <a:pt x="14684" y="372666"/>
                  <a:pt x="0" y="362942"/>
                </a:cubicBezTo>
                <a:lnTo>
                  <a:pt x="0" y="428625"/>
                </a:lnTo>
                <a:cubicBezTo>
                  <a:pt x="0" y="472480"/>
                  <a:pt x="99516" y="508000"/>
                  <a:pt x="222250" y="508000"/>
                </a:cubicBezTo>
                <a:cubicBezTo>
                  <a:pt x="344984" y="508000"/>
                  <a:pt x="444500" y="472480"/>
                  <a:pt x="444500" y="428625"/>
                </a:cubicBezTo>
                <a:lnTo>
                  <a:pt x="444500" y="362942"/>
                </a:lnTo>
                <a:cubicBezTo>
                  <a:pt x="429816" y="372666"/>
                  <a:pt x="412948" y="380504"/>
                  <a:pt x="395387" y="386755"/>
                </a:cubicBezTo>
                <a:close/>
              </a:path>
            </a:pathLst>
          </a:cu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381500" y="2794000"/>
            <a:ext cx="2286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Retrieve</a:t>
            </a:r>
            <a:endParaRPr lang="en-US" sz="1600" dirty="0"/>
          </a:p>
          <a:p>
            <a:pPr algn="ctr">
              <a:lnSpc>
                <a:spcPct val="14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Fetch relevant chunks from vector store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85000" y="3111500"/>
            <a:ext cx="508000" cy="0"/>
          </a:xfrm>
          <a:prstGeom prst="straightConnector1">
            <a:avLst/>
          </a:prstGeom>
          <a:noFill/>
          <a:ln w="25400">
            <a:solidFill>
              <a:srgbClr val="C9A96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7620000" y="1905000"/>
            <a:ext cx="2667000" cy="2540000"/>
          </a:xfrm>
          <a:prstGeom prst="rect">
            <a:avLst/>
          </a:prstGeom>
          <a:solidFill>
            <a:srgbClr val="1B25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86995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1750" y="63500"/>
                </a:moveTo>
                <a:cubicBezTo>
                  <a:pt x="18951" y="63500"/>
                  <a:pt x="7342" y="71239"/>
                  <a:pt x="2381" y="83145"/>
                </a:cubicBezTo>
                <a:cubicBezTo>
                  <a:pt x="-2580" y="95052"/>
                  <a:pt x="198" y="108645"/>
                  <a:pt x="9327" y="117673"/>
                </a:cubicBezTo>
                <a:lnTo>
                  <a:pt x="190500" y="298946"/>
                </a:lnTo>
                <a:lnTo>
                  <a:pt x="190500" y="412750"/>
                </a:lnTo>
                <a:cubicBezTo>
                  <a:pt x="190500" y="421184"/>
                  <a:pt x="193873" y="429220"/>
                  <a:pt x="199827" y="435173"/>
                </a:cubicBezTo>
                <a:lnTo>
                  <a:pt x="263327" y="498673"/>
                </a:lnTo>
                <a:cubicBezTo>
                  <a:pt x="272455" y="507802"/>
                  <a:pt x="286048" y="510480"/>
                  <a:pt x="297954" y="505520"/>
                </a:cubicBezTo>
                <a:cubicBezTo>
                  <a:pt x="309860" y="500559"/>
                  <a:pt x="317500" y="489049"/>
                  <a:pt x="317500" y="476250"/>
                </a:cubicBezTo>
                <a:lnTo>
                  <a:pt x="317500" y="298946"/>
                </a:lnTo>
                <a:lnTo>
                  <a:pt x="498673" y="117773"/>
                </a:lnTo>
                <a:cubicBezTo>
                  <a:pt x="507802" y="108645"/>
                  <a:pt x="510480" y="95052"/>
                  <a:pt x="505520" y="83145"/>
                </a:cubicBezTo>
                <a:cubicBezTo>
                  <a:pt x="500559" y="71239"/>
                  <a:pt x="489049" y="63500"/>
                  <a:pt x="476250" y="63500"/>
                </a:cubicBezTo>
                <a:lnTo>
                  <a:pt x="31750" y="63500"/>
                </a:lnTo>
                <a:close/>
              </a:path>
            </a:pathLst>
          </a:cu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7810500" y="2794000"/>
            <a:ext cx="2286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Rerank</a:t>
            </a:r>
            <a:endParaRPr lang="en-US" sz="1600" dirty="0"/>
          </a:p>
          <a:p>
            <a:pPr algn="ctr">
              <a:lnSpc>
                <a:spcPct val="14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Refine candidates for highest relevance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414000" y="3111500"/>
            <a:ext cx="508000" cy="0"/>
          </a:xfrm>
          <a:prstGeom prst="straightConnector1">
            <a:avLst/>
          </a:prstGeom>
          <a:noFill/>
          <a:ln w="25400">
            <a:solidFill>
              <a:srgbClr val="C9A96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11049000" y="1905000"/>
            <a:ext cx="2667000" cy="2540000"/>
          </a:xfrm>
          <a:prstGeom prst="rect">
            <a:avLst/>
          </a:prstGeom>
          <a:solidFill>
            <a:srgbClr val="1B25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12096750" y="2159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61342" y="-26789"/>
                </a:moveTo>
                <a:lnTo>
                  <a:pt x="276027" y="9723"/>
                </a:lnTo>
                <a:lnTo>
                  <a:pt x="312539" y="24408"/>
                </a:lnTo>
                <a:cubicBezTo>
                  <a:pt x="315516" y="25598"/>
                  <a:pt x="317500" y="28575"/>
                  <a:pt x="317500" y="31750"/>
                </a:cubicBezTo>
                <a:cubicBezTo>
                  <a:pt x="317500" y="34925"/>
                  <a:pt x="315516" y="37902"/>
                  <a:pt x="312539" y="39092"/>
                </a:cubicBezTo>
                <a:lnTo>
                  <a:pt x="276027" y="53777"/>
                </a:lnTo>
                <a:lnTo>
                  <a:pt x="261342" y="90289"/>
                </a:lnTo>
                <a:cubicBezTo>
                  <a:pt x="260152" y="93266"/>
                  <a:pt x="257175" y="95250"/>
                  <a:pt x="254000" y="95250"/>
                </a:cubicBezTo>
                <a:cubicBezTo>
                  <a:pt x="250825" y="95250"/>
                  <a:pt x="247848" y="93266"/>
                  <a:pt x="246658" y="90289"/>
                </a:cubicBezTo>
                <a:lnTo>
                  <a:pt x="231973" y="53777"/>
                </a:lnTo>
                <a:lnTo>
                  <a:pt x="195461" y="39092"/>
                </a:lnTo>
                <a:cubicBezTo>
                  <a:pt x="192484" y="37902"/>
                  <a:pt x="190500" y="34925"/>
                  <a:pt x="190500" y="31750"/>
                </a:cubicBezTo>
                <a:cubicBezTo>
                  <a:pt x="190500" y="28575"/>
                  <a:pt x="192484" y="25598"/>
                  <a:pt x="195461" y="24408"/>
                </a:cubicBezTo>
                <a:lnTo>
                  <a:pt x="231973" y="9723"/>
                </a:lnTo>
                <a:lnTo>
                  <a:pt x="246658" y="-26789"/>
                </a:lnTo>
                <a:cubicBezTo>
                  <a:pt x="247848" y="-29766"/>
                  <a:pt x="250825" y="-31750"/>
                  <a:pt x="254000" y="-31750"/>
                </a:cubicBezTo>
                <a:cubicBezTo>
                  <a:pt x="257175" y="-31750"/>
                  <a:pt x="260152" y="-29766"/>
                  <a:pt x="261342" y="-26789"/>
                </a:cubicBezTo>
                <a:close/>
                <a:moveTo>
                  <a:pt x="109835" y="41374"/>
                </a:moveTo>
                <a:lnTo>
                  <a:pt x="131167" y="91083"/>
                </a:lnTo>
                <a:lnTo>
                  <a:pt x="180876" y="112415"/>
                </a:lnTo>
                <a:cubicBezTo>
                  <a:pt x="186730" y="114895"/>
                  <a:pt x="190500" y="120650"/>
                  <a:pt x="190500" y="127000"/>
                </a:cubicBezTo>
                <a:cubicBezTo>
                  <a:pt x="190500" y="133350"/>
                  <a:pt x="186730" y="139105"/>
                  <a:pt x="180876" y="141585"/>
                </a:cubicBezTo>
                <a:lnTo>
                  <a:pt x="131167" y="162917"/>
                </a:lnTo>
                <a:lnTo>
                  <a:pt x="109835" y="212626"/>
                </a:lnTo>
                <a:cubicBezTo>
                  <a:pt x="107355" y="218480"/>
                  <a:pt x="101600" y="222250"/>
                  <a:pt x="95250" y="222250"/>
                </a:cubicBezTo>
                <a:cubicBezTo>
                  <a:pt x="88900" y="222250"/>
                  <a:pt x="83145" y="218480"/>
                  <a:pt x="80665" y="212626"/>
                </a:cubicBezTo>
                <a:lnTo>
                  <a:pt x="59333" y="162917"/>
                </a:lnTo>
                <a:lnTo>
                  <a:pt x="9624" y="141585"/>
                </a:lnTo>
                <a:cubicBezTo>
                  <a:pt x="3770" y="139105"/>
                  <a:pt x="0" y="133350"/>
                  <a:pt x="0" y="127000"/>
                </a:cubicBezTo>
                <a:cubicBezTo>
                  <a:pt x="0" y="120650"/>
                  <a:pt x="3770" y="114895"/>
                  <a:pt x="9624" y="112415"/>
                </a:cubicBezTo>
                <a:lnTo>
                  <a:pt x="59333" y="91083"/>
                </a:lnTo>
                <a:lnTo>
                  <a:pt x="80665" y="41374"/>
                </a:lnTo>
                <a:cubicBezTo>
                  <a:pt x="83145" y="35520"/>
                  <a:pt x="88900" y="31750"/>
                  <a:pt x="95250" y="31750"/>
                </a:cubicBezTo>
                <a:cubicBezTo>
                  <a:pt x="101600" y="31750"/>
                  <a:pt x="107355" y="35520"/>
                  <a:pt x="109835" y="41374"/>
                </a:cubicBezTo>
                <a:close/>
                <a:moveTo>
                  <a:pt x="460375" y="301625"/>
                </a:moveTo>
                <a:cubicBezTo>
                  <a:pt x="466725" y="301625"/>
                  <a:pt x="472480" y="305395"/>
                  <a:pt x="474960" y="311249"/>
                </a:cubicBezTo>
                <a:lnTo>
                  <a:pt x="496292" y="360958"/>
                </a:lnTo>
                <a:lnTo>
                  <a:pt x="546001" y="382290"/>
                </a:lnTo>
                <a:cubicBezTo>
                  <a:pt x="551855" y="384770"/>
                  <a:pt x="555625" y="390525"/>
                  <a:pt x="555625" y="396875"/>
                </a:cubicBezTo>
                <a:cubicBezTo>
                  <a:pt x="555625" y="403225"/>
                  <a:pt x="551855" y="408980"/>
                  <a:pt x="546001" y="411460"/>
                </a:cubicBezTo>
                <a:lnTo>
                  <a:pt x="496292" y="432792"/>
                </a:lnTo>
                <a:lnTo>
                  <a:pt x="474960" y="482501"/>
                </a:lnTo>
                <a:cubicBezTo>
                  <a:pt x="472480" y="488355"/>
                  <a:pt x="466725" y="492125"/>
                  <a:pt x="460375" y="492125"/>
                </a:cubicBezTo>
                <a:cubicBezTo>
                  <a:pt x="454025" y="492125"/>
                  <a:pt x="448270" y="488355"/>
                  <a:pt x="445790" y="482501"/>
                </a:cubicBezTo>
                <a:lnTo>
                  <a:pt x="424458" y="432792"/>
                </a:lnTo>
                <a:lnTo>
                  <a:pt x="374749" y="411460"/>
                </a:lnTo>
                <a:cubicBezTo>
                  <a:pt x="368895" y="408980"/>
                  <a:pt x="365125" y="403225"/>
                  <a:pt x="365125" y="396875"/>
                </a:cubicBezTo>
                <a:cubicBezTo>
                  <a:pt x="365125" y="390525"/>
                  <a:pt x="368895" y="384770"/>
                  <a:pt x="374749" y="382290"/>
                </a:cubicBezTo>
                <a:lnTo>
                  <a:pt x="424458" y="360958"/>
                </a:lnTo>
                <a:lnTo>
                  <a:pt x="445790" y="311249"/>
                </a:lnTo>
                <a:cubicBezTo>
                  <a:pt x="448270" y="305395"/>
                  <a:pt x="454025" y="301625"/>
                  <a:pt x="460375" y="301625"/>
                </a:cubicBezTo>
                <a:close/>
                <a:moveTo>
                  <a:pt x="456406" y="0"/>
                </a:moveTo>
                <a:cubicBezTo>
                  <a:pt x="467320" y="0"/>
                  <a:pt x="477838" y="4366"/>
                  <a:pt x="485676" y="12105"/>
                </a:cubicBezTo>
                <a:lnTo>
                  <a:pt x="527645" y="54074"/>
                </a:lnTo>
                <a:cubicBezTo>
                  <a:pt x="535384" y="61913"/>
                  <a:pt x="539750" y="72430"/>
                  <a:pt x="539750" y="83344"/>
                </a:cubicBezTo>
                <a:cubicBezTo>
                  <a:pt x="539750" y="94258"/>
                  <a:pt x="535384" y="104775"/>
                  <a:pt x="527645" y="112613"/>
                </a:cubicBezTo>
                <a:lnTo>
                  <a:pt x="440134" y="200124"/>
                </a:lnTo>
                <a:lnTo>
                  <a:pt x="339626" y="99616"/>
                </a:lnTo>
                <a:lnTo>
                  <a:pt x="427137" y="12105"/>
                </a:lnTo>
                <a:cubicBezTo>
                  <a:pt x="434975" y="4366"/>
                  <a:pt x="445492" y="0"/>
                  <a:pt x="456406" y="0"/>
                </a:cubicBezTo>
                <a:close/>
                <a:moveTo>
                  <a:pt x="43855" y="395387"/>
                </a:moveTo>
                <a:lnTo>
                  <a:pt x="305991" y="133251"/>
                </a:lnTo>
                <a:lnTo>
                  <a:pt x="406499" y="233759"/>
                </a:lnTo>
                <a:lnTo>
                  <a:pt x="144363" y="495895"/>
                </a:lnTo>
                <a:cubicBezTo>
                  <a:pt x="136525" y="503634"/>
                  <a:pt x="126008" y="508000"/>
                  <a:pt x="115094" y="508000"/>
                </a:cubicBezTo>
                <a:cubicBezTo>
                  <a:pt x="104180" y="508000"/>
                  <a:pt x="93663" y="503634"/>
                  <a:pt x="85824" y="495895"/>
                </a:cubicBezTo>
                <a:lnTo>
                  <a:pt x="43855" y="453926"/>
                </a:lnTo>
                <a:cubicBezTo>
                  <a:pt x="36116" y="446088"/>
                  <a:pt x="31750" y="435570"/>
                  <a:pt x="31750" y="424656"/>
                </a:cubicBezTo>
                <a:cubicBezTo>
                  <a:pt x="31750" y="413742"/>
                  <a:pt x="36116" y="403225"/>
                  <a:pt x="43855" y="395387"/>
                </a:cubicBezTo>
                <a:close/>
              </a:path>
            </a:pathLst>
          </a:cu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1239500" y="2794000"/>
            <a:ext cx="2286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</a:t>
            </a:r>
            <a:endParaRPr lang="en-US" sz="1600" dirty="0"/>
          </a:p>
          <a:p>
            <a:pPr algn="ctr">
              <a:lnSpc>
                <a:spcPct val="14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answer from filtered context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3843000" y="1905000"/>
            <a:ext cx="2159000" cy="25400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14732000" y="21590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0" y="63500"/>
                </a:moveTo>
                <a:cubicBezTo>
                  <a:pt x="0" y="28476"/>
                  <a:pt x="28476" y="0"/>
                  <a:pt x="63500" y="0"/>
                </a:cubicBezTo>
                <a:lnTo>
                  <a:pt x="211832" y="0"/>
                </a:lnTo>
                <a:cubicBezTo>
                  <a:pt x="228699" y="0"/>
                  <a:pt x="244872" y="6648"/>
                  <a:pt x="256778" y="18554"/>
                </a:cubicBezTo>
                <a:lnTo>
                  <a:pt x="362446" y="124321"/>
                </a:lnTo>
                <a:cubicBezTo>
                  <a:pt x="374352" y="136227"/>
                  <a:pt x="381000" y="152400"/>
                  <a:pt x="381000" y="169267"/>
                </a:cubicBezTo>
                <a:lnTo>
                  <a:pt x="381000" y="444500"/>
                </a:lnTo>
                <a:cubicBezTo>
                  <a:pt x="381000" y="479524"/>
                  <a:pt x="352524" y="508000"/>
                  <a:pt x="317500" y="508000"/>
                </a:cubicBezTo>
                <a:lnTo>
                  <a:pt x="63500" y="508000"/>
                </a:lnTo>
                <a:cubicBezTo>
                  <a:pt x="28476" y="508000"/>
                  <a:pt x="0" y="479524"/>
                  <a:pt x="0" y="444500"/>
                </a:cubicBezTo>
                <a:lnTo>
                  <a:pt x="0" y="63500"/>
                </a:lnTo>
                <a:close/>
                <a:moveTo>
                  <a:pt x="206375" y="58043"/>
                </a:moveTo>
                <a:lnTo>
                  <a:pt x="206375" y="150813"/>
                </a:lnTo>
                <a:cubicBezTo>
                  <a:pt x="206375" y="164009"/>
                  <a:pt x="216991" y="174625"/>
                  <a:pt x="230188" y="174625"/>
                </a:cubicBezTo>
                <a:lnTo>
                  <a:pt x="322957" y="174625"/>
                </a:lnTo>
                <a:lnTo>
                  <a:pt x="206375" y="58043"/>
                </a:lnTo>
                <a:close/>
                <a:moveTo>
                  <a:pt x="119063" y="254000"/>
                </a:moveTo>
                <a:cubicBezTo>
                  <a:pt x="105866" y="254000"/>
                  <a:pt x="95250" y="264616"/>
                  <a:pt x="95250" y="277813"/>
                </a:cubicBezTo>
                <a:cubicBezTo>
                  <a:pt x="95250" y="291009"/>
                  <a:pt x="105866" y="301625"/>
                  <a:pt x="119063" y="301625"/>
                </a:cubicBezTo>
                <a:lnTo>
                  <a:pt x="261937" y="301625"/>
                </a:lnTo>
                <a:cubicBezTo>
                  <a:pt x="275134" y="301625"/>
                  <a:pt x="285750" y="291009"/>
                  <a:pt x="285750" y="277813"/>
                </a:cubicBezTo>
                <a:cubicBezTo>
                  <a:pt x="285750" y="264616"/>
                  <a:pt x="275134" y="254000"/>
                  <a:pt x="261937" y="254000"/>
                </a:cubicBezTo>
                <a:lnTo>
                  <a:pt x="119063" y="254000"/>
                </a:lnTo>
                <a:close/>
                <a:moveTo>
                  <a:pt x="119063" y="349250"/>
                </a:moveTo>
                <a:cubicBezTo>
                  <a:pt x="105866" y="349250"/>
                  <a:pt x="95250" y="359866"/>
                  <a:pt x="95250" y="373063"/>
                </a:cubicBezTo>
                <a:cubicBezTo>
                  <a:pt x="95250" y="386259"/>
                  <a:pt x="105866" y="396875"/>
                  <a:pt x="119063" y="396875"/>
                </a:cubicBezTo>
                <a:lnTo>
                  <a:pt x="261937" y="396875"/>
                </a:lnTo>
                <a:cubicBezTo>
                  <a:pt x="275134" y="396875"/>
                  <a:pt x="285750" y="386259"/>
                  <a:pt x="285750" y="373063"/>
                </a:cubicBezTo>
                <a:cubicBezTo>
                  <a:pt x="285750" y="359866"/>
                  <a:pt x="275134" y="349250"/>
                  <a:pt x="261937" y="349250"/>
                </a:cubicBezTo>
                <a:lnTo>
                  <a:pt x="119063" y="349250"/>
                </a:lnTo>
                <a:close/>
              </a:path>
            </a:pathLst>
          </a:custGeom>
          <a:solidFill>
            <a:srgbClr val="1B25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3970000" y="2794000"/>
            <a:ext cx="1905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b="1" dirty="0">
                <a:solidFill>
                  <a:srgbClr val="1B253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Respond</a:t>
            </a:r>
            <a:endParaRPr lang="en-US" sz="1600" dirty="0"/>
          </a:p>
          <a:p>
            <a:pPr algn="ctr">
              <a:lnSpc>
                <a:spcPct val="14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B253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Answer + citations + metadata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3843000" y="3111500"/>
            <a:ext cx="0" cy="0"/>
          </a:xfrm>
          <a:prstGeom prst="straightConnector1">
            <a:avLst/>
          </a:prstGeom>
          <a:noFill/>
          <a:ln w="25400">
            <a:solidFill>
              <a:srgbClr val="C9A96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762000" y="4953000"/>
            <a:ext cx="14732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Behind the simple user experience lies a full </a:t>
            </a: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RAG chain</a:t>
            </a: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C9A9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platform performs retrieval against a </a:t>
            </a: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Qdrant vector database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C9A9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Applies </a:t>
            </a: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reranking</a:t>
            </a: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precision before generation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C9A9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Generates answers only from </a:t>
            </a: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top-ranked context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C9A9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API response includes </a:t>
            </a: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metadata and citations</a:t>
            </a: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trust and downstream auditing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/ 15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84200"/>
            <a:ext cx="508000" cy="254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kern="0" spc="100" dirty="0">
                <a:solidFill>
                  <a:srgbClr val="1B253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DOMAIN COVERAGE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8B95A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Three domain lanes with optional lane hints to narrow retrieval scope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2000" y="2413000"/>
            <a:ext cx="4572000" cy="4826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762000" y="2413000"/>
            <a:ext cx="4572000" cy="635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743200" y="2857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76200"/>
                </a:moveTo>
                <a:cubicBezTo>
                  <a:pt x="76200" y="55126"/>
                  <a:pt x="59174" y="38100"/>
                  <a:pt x="38100" y="38100"/>
                </a:cubicBezTo>
                <a:cubicBezTo>
                  <a:pt x="17026" y="38100"/>
                  <a:pt x="0" y="55126"/>
                  <a:pt x="0" y="76200"/>
                </a:cubicBezTo>
                <a:lnTo>
                  <a:pt x="0" y="476250"/>
                </a:lnTo>
                <a:cubicBezTo>
                  <a:pt x="0" y="528876"/>
                  <a:pt x="42624" y="571500"/>
                  <a:pt x="95250" y="571500"/>
                </a:cubicBezTo>
                <a:lnTo>
                  <a:pt x="571500" y="571500"/>
                </a:lnTo>
                <a:cubicBezTo>
                  <a:pt x="592574" y="571500"/>
                  <a:pt x="609600" y="554474"/>
                  <a:pt x="609600" y="533400"/>
                </a:cubicBezTo>
                <a:cubicBezTo>
                  <a:pt x="609600" y="512326"/>
                  <a:pt x="592574" y="495300"/>
                  <a:pt x="571500" y="495300"/>
                </a:cubicBezTo>
                <a:lnTo>
                  <a:pt x="95250" y="495300"/>
                </a:lnTo>
                <a:cubicBezTo>
                  <a:pt x="84773" y="495300"/>
                  <a:pt x="76200" y="486728"/>
                  <a:pt x="76200" y="476250"/>
                </a:cubicBezTo>
                <a:lnTo>
                  <a:pt x="76200" y="76200"/>
                </a:lnTo>
                <a:close/>
                <a:moveTo>
                  <a:pt x="560308" y="179308"/>
                </a:moveTo>
                <a:cubicBezTo>
                  <a:pt x="575191" y="164425"/>
                  <a:pt x="575191" y="140256"/>
                  <a:pt x="560308" y="125373"/>
                </a:cubicBezTo>
                <a:cubicBezTo>
                  <a:pt x="545425" y="110490"/>
                  <a:pt x="521256" y="110490"/>
                  <a:pt x="506373" y="125373"/>
                </a:cubicBezTo>
                <a:lnTo>
                  <a:pt x="381000" y="250865"/>
                </a:lnTo>
                <a:lnTo>
                  <a:pt x="312658" y="182642"/>
                </a:lnTo>
                <a:cubicBezTo>
                  <a:pt x="297775" y="167759"/>
                  <a:pt x="273606" y="167759"/>
                  <a:pt x="258723" y="182642"/>
                </a:cubicBezTo>
                <a:lnTo>
                  <a:pt x="144423" y="296942"/>
                </a:lnTo>
                <a:cubicBezTo>
                  <a:pt x="129540" y="311825"/>
                  <a:pt x="129540" y="335994"/>
                  <a:pt x="144423" y="350877"/>
                </a:cubicBezTo>
                <a:cubicBezTo>
                  <a:pt x="159306" y="365760"/>
                  <a:pt x="183475" y="365760"/>
                  <a:pt x="198358" y="350877"/>
                </a:cubicBezTo>
                <a:lnTo>
                  <a:pt x="285750" y="263485"/>
                </a:lnTo>
                <a:lnTo>
                  <a:pt x="354092" y="331827"/>
                </a:lnTo>
                <a:cubicBezTo>
                  <a:pt x="368975" y="346710"/>
                  <a:pt x="393144" y="346710"/>
                  <a:pt x="408027" y="331827"/>
                </a:cubicBezTo>
                <a:lnTo>
                  <a:pt x="560427" y="179427"/>
                </a:lnTo>
                <a:close/>
              </a:path>
            </a:pathLst>
          </a:custGeom>
          <a:solidFill>
            <a:srgbClr val="1B25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079500" y="3683000"/>
            <a:ext cx="3937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1B253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STOCKS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9500" y="4318000"/>
            <a:ext cx="3937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Market narratives, equity quotes, company fundamentals, and earnings context for US equities coverage.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715000" y="2413000"/>
            <a:ext cx="4572000" cy="4826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5715000" y="2413000"/>
            <a:ext cx="4572000" cy="635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7696200" y="28575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18981" y="333375"/>
                </a:moveTo>
                <a:lnTo>
                  <a:pt x="191691" y="333375"/>
                </a:lnTo>
                <a:cubicBezTo>
                  <a:pt x="195143" y="410170"/>
                  <a:pt x="212169" y="480893"/>
                  <a:pt x="236339" y="532686"/>
                </a:cubicBezTo>
                <a:cubicBezTo>
                  <a:pt x="249912" y="561856"/>
                  <a:pt x="264557" y="582454"/>
                  <a:pt x="278130" y="595074"/>
                </a:cubicBezTo>
                <a:cubicBezTo>
                  <a:pt x="291465" y="607576"/>
                  <a:pt x="300633" y="609600"/>
                  <a:pt x="305395" y="609600"/>
                </a:cubicBezTo>
                <a:cubicBezTo>
                  <a:pt x="310158" y="609600"/>
                  <a:pt x="319326" y="607576"/>
                  <a:pt x="332661" y="595074"/>
                </a:cubicBezTo>
                <a:cubicBezTo>
                  <a:pt x="346234" y="582454"/>
                  <a:pt x="360878" y="561737"/>
                  <a:pt x="374452" y="532686"/>
                </a:cubicBezTo>
                <a:cubicBezTo>
                  <a:pt x="398621" y="480893"/>
                  <a:pt x="415647" y="410170"/>
                  <a:pt x="419100" y="333375"/>
                </a:cubicBezTo>
                <a:close/>
                <a:moveTo>
                  <a:pt x="191572" y="276225"/>
                </a:moveTo>
                <a:lnTo>
                  <a:pt x="418862" y="276225"/>
                </a:lnTo>
                <a:cubicBezTo>
                  <a:pt x="415528" y="199430"/>
                  <a:pt x="398502" y="128707"/>
                  <a:pt x="374332" y="76914"/>
                </a:cubicBezTo>
                <a:cubicBezTo>
                  <a:pt x="360759" y="47863"/>
                  <a:pt x="346115" y="27146"/>
                  <a:pt x="332542" y="14526"/>
                </a:cubicBezTo>
                <a:cubicBezTo>
                  <a:pt x="319207" y="2024"/>
                  <a:pt x="310039" y="0"/>
                  <a:pt x="305276" y="0"/>
                </a:cubicBezTo>
                <a:cubicBezTo>
                  <a:pt x="300514" y="0"/>
                  <a:pt x="291346" y="2024"/>
                  <a:pt x="278011" y="14526"/>
                </a:cubicBezTo>
                <a:cubicBezTo>
                  <a:pt x="264438" y="27146"/>
                  <a:pt x="249793" y="47863"/>
                  <a:pt x="236220" y="76914"/>
                </a:cubicBezTo>
                <a:cubicBezTo>
                  <a:pt x="212050" y="128707"/>
                  <a:pt x="195024" y="199430"/>
                  <a:pt x="191572" y="276225"/>
                </a:cubicBezTo>
                <a:close/>
                <a:moveTo>
                  <a:pt x="134422" y="276225"/>
                </a:moveTo>
                <a:cubicBezTo>
                  <a:pt x="138589" y="174308"/>
                  <a:pt x="164902" y="79653"/>
                  <a:pt x="203359" y="17502"/>
                </a:cubicBezTo>
                <a:cubicBezTo>
                  <a:pt x="93702" y="56317"/>
                  <a:pt x="12978" y="156210"/>
                  <a:pt x="1786" y="276225"/>
                </a:cubicBezTo>
                <a:lnTo>
                  <a:pt x="134422" y="276225"/>
                </a:lnTo>
                <a:close/>
                <a:moveTo>
                  <a:pt x="1786" y="333375"/>
                </a:moveTo>
                <a:cubicBezTo>
                  <a:pt x="12978" y="453390"/>
                  <a:pt x="93702" y="553283"/>
                  <a:pt x="203359" y="592098"/>
                </a:cubicBezTo>
                <a:cubicBezTo>
                  <a:pt x="164902" y="529947"/>
                  <a:pt x="138589" y="435293"/>
                  <a:pt x="134422" y="333375"/>
                </a:cubicBezTo>
                <a:lnTo>
                  <a:pt x="1786" y="333375"/>
                </a:lnTo>
                <a:close/>
                <a:moveTo>
                  <a:pt x="476131" y="333375"/>
                </a:moveTo>
                <a:cubicBezTo>
                  <a:pt x="471964" y="435293"/>
                  <a:pt x="445651" y="529947"/>
                  <a:pt x="407194" y="592098"/>
                </a:cubicBezTo>
                <a:cubicBezTo>
                  <a:pt x="516850" y="553164"/>
                  <a:pt x="597575" y="453390"/>
                  <a:pt x="608767" y="333375"/>
                </a:cubicBezTo>
                <a:lnTo>
                  <a:pt x="476131" y="333375"/>
                </a:lnTo>
                <a:close/>
                <a:moveTo>
                  <a:pt x="608767" y="276225"/>
                </a:moveTo>
                <a:cubicBezTo>
                  <a:pt x="597575" y="156210"/>
                  <a:pt x="516850" y="56317"/>
                  <a:pt x="407194" y="17502"/>
                </a:cubicBezTo>
                <a:cubicBezTo>
                  <a:pt x="445651" y="79653"/>
                  <a:pt x="471964" y="174308"/>
                  <a:pt x="476131" y="276225"/>
                </a:cubicBezTo>
                <a:lnTo>
                  <a:pt x="608767" y="276225"/>
                </a:lnTo>
                <a:close/>
              </a:path>
            </a:pathLst>
          </a:custGeom>
          <a:solidFill>
            <a:srgbClr val="1B25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032500" y="3683000"/>
            <a:ext cx="3937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1B253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MACRO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2500" y="4318000"/>
            <a:ext cx="3937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Economic indicators including CPI, GDP, employment data, and Federal Reserve rate policy context.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668000" y="2413000"/>
            <a:ext cx="4572000" cy="4826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10668000" y="2413000"/>
            <a:ext cx="4572000" cy="635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12573000" y="28575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457200" y="38100"/>
                </a:moveTo>
                <a:lnTo>
                  <a:pt x="609600" y="38100"/>
                </a:lnTo>
                <a:cubicBezTo>
                  <a:pt x="630674" y="38100"/>
                  <a:pt x="647700" y="55126"/>
                  <a:pt x="647700" y="76200"/>
                </a:cubicBezTo>
                <a:cubicBezTo>
                  <a:pt x="647700" y="97274"/>
                  <a:pt x="630674" y="114300"/>
                  <a:pt x="609600" y="114300"/>
                </a:cubicBezTo>
                <a:lnTo>
                  <a:pt x="474345" y="114300"/>
                </a:lnTo>
                <a:cubicBezTo>
                  <a:pt x="468154" y="145018"/>
                  <a:pt x="447080" y="170378"/>
                  <a:pt x="419100" y="182523"/>
                </a:cubicBezTo>
                <a:lnTo>
                  <a:pt x="419100" y="533400"/>
                </a:lnTo>
                <a:lnTo>
                  <a:pt x="609600" y="533400"/>
                </a:lnTo>
                <a:cubicBezTo>
                  <a:pt x="630674" y="533400"/>
                  <a:pt x="647700" y="550426"/>
                  <a:pt x="647700" y="571500"/>
                </a:cubicBezTo>
                <a:cubicBezTo>
                  <a:pt x="647700" y="592574"/>
                  <a:pt x="630674" y="609600"/>
                  <a:pt x="609600" y="609600"/>
                </a:cubicBezTo>
                <a:lnTo>
                  <a:pt x="152400" y="609600"/>
                </a:lnTo>
                <a:cubicBezTo>
                  <a:pt x="131326" y="609600"/>
                  <a:pt x="114300" y="592574"/>
                  <a:pt x="114300" y="571500"/>
                </a:cubicBezTo>
                <a:cubicBezTo>
                  <a:pt x="114300" y="550426"/>
                  <a:pt x="131326" y="533400"/>
                  <a:pt x="152400" y="533400"/>
                </a:cubicBezTo>
                <a:lnTo>
                  <a:pt x="342900" y="533400"/>
                </a:lnTo>
                <a:lnTo>
                  <a:pt x="342900" y="182523"/>
                </a:lnTo>
                <a:cubicBezTo>
                  <a:pt x="314920" y="170259"/>
                  <a:pt x="293846" y="144899"/>
                  <a:pt x="287655" y="114300"/>
                </a:cubicBezTo>
                <a:lnTo>
                  <a:pt x="152400" y="114300"/>
                </a:lnTo>
                <a:cubicBezTo>
                  <a:pt x="131326" y="114300"/>
                  <a:pt x="114300" y="97274"/>
                  <a:pt x="114300" y="76200"/>
                </a:cubicBezTo>
                <a:cubicBezTo>
                  <a:pt x="114300" y="55126"/>
                  <a:pt x="131326" y="38100"/>
                  <a:pt x="152400" y="38100"/>
                </a:cubicBezTo>
                <a:lnTo>
                  <a:pt x="304800" y="38100"/>
                </a:lnTo>
                <a:cubicBezTo>
                  <a:pt x="322183" y="15002"/>
                  <a:pt x="349806" y="0"/>
                  <a:pt x="381000" y="0"/>
                </a:cubicBezTo>
                <a:cubicBezTo>
                  <a:pt x="412194" y="0"/>
                  <a:pt x="439817" y="15002"/>
                  <a:pt x="457200" y="38100"/>
                </a:cubicBezTo>
                <a:close/>
                <a:moveTo>
                  <a:pt x="523399" y="381000"/>
                </a:moveTo>
                <a:lnTo>
                  <a:pt x="695801" y="381000"/>
                </a:lnTo>
                <a:lnTo>
                  <a:pt x="609600" y="233124"/>
                </a:lnTo>
                <a:lnTo>
                  <a:pt x="523399" y="381000"/>
                </a:lnTo>
                <a:close/>
                <a:moveTo>
                  <a:pt x="609600" y="495300"/>
                </a:moveTo>
                <a:cubicBezTo>
                  <a:pt x="534710" y="495300"/>
                  <a:pt x="472440" y="454819"/>
                  <a:pt x="459581" y="401360"/>
                </a:cubicBezTo>
                <a:cubicBezTo>
                  <a:pt x="456486" y="388263"/>
                  <a:pt x="460772" y="374809"/>
                  <a:pt x="467558" y="363141"/>
                </a:cubicBezTo>
                <a:lnTo>
                  <a:pt x="580906" y="168831"/>
                </a:lnTo>
                <a:cubicBezTo>
                  <a:pt x="586859" y="158591"/>
                  <a:pt x="597813" y="152400"/>
                  <a:pt x="609600" y="152400"/>
                </a:cubicBezTo>
                <a:cubicBezTo>
                  <a:pt x="621387" y="152400"/>
                  <a:pt x="632341" y="158710"/>
                  <a:pt x="638294" y="168831"/>
                </a:cubicBezTo>
                <a:lnTo>
                  <a:pt x="751642" y="363141"/>
                </a:lnTo>
                <a:cubicBezTo>
                  <a:pt x="758428" y="374809"/>
                  <a:pt x="762714" y="388263"/>
                  <a:pt x="759619" y="401360"/>
                </a:cubicBezTo>
                <a:cubicBezTo>
                  <a:pt x="746760" y="454700"/>
                  <a:pt x="684490" y="495300"/>
                  <a:pt x="609600" y="495300"/>
                </a:cubicBezTo>
                <a:close/>
                <a:moveTo>
                  <a:pt x="150971" y="233124"/>
                </a:moveTo>
                <a:lnTo>
                  <a:pt x="64770" y="381000"/>
                </a:lnTo>
                <a:lnTo>
                  <a:pt x="237292" y="381000"/>
                </a:lnTo>
                <a:lnTo>
                  <a:pt x="150971" y="233124"/>
                </a:lnTo>
                <a:close/>
                <a:moveTo>
                  <a:pt x="1072" y="401360"/>
                </a:moveTo>
                <a:cubicBezTo>
                  <a:pt x="-2024" y="388263"/>
                  <a:pt x="2262" y="374809"/>
                  <a:pt x="9049" y="363141"/>
                </a:cubicBezTo>
                <a:lnTo>
                  <a:pt x="122396" y="168831"/>
                </a:lnTo>
                <a:cubicBezTo>
                  <a:pt x="128349" y="158591"/>
                  <a:pt x="139303" y="152400"/>
                  <a:pt x="151090" y="152400"/>
                </a:cubicBezTo>
                <a:cubicBezTo>
                  <a:pt x="162878" y="152400"/>
                  <a:pt x="173831" y="158710"/>
                  <a:pt x="179784" y="168831"/>
                </a:cubicBezTo>
                <a:lnTo>
                  <a:pt x="293132" y="363141"/>
                </a:lnTo>
                <a:cubicBezTo>
                  <a:pt x="299918" y="374809"/>
                  <a:pt x="304205" y="388263"/>
                  <a:pt x="301109" y="401360"/>
                </a:cubicBezTo>
                <a:cubicBezTo>
                  <a:pt x="288250" y="454700"/>
                  <a:pt x="225981" y="495300"/>
                  <a:pt x="151090" y="495300"/>
                </a:cubicBezTo>
                <a:cubicBezTo>
                  <a:pt x="76200" y="495300"/>
                  <a:pt x="13930" y="454819"/>
                  <a:pt x="1072" y="401360"/>
                </a:cubicBezTo>
                <a:close/>
              </a:path>
            </a:pathLst>
          </a:custGeom>
          <a:solidFill>
            <a:srgbClr val="1B25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0985500" y="3683000"/>
            <a:ext cx="3937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1B253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REGULATION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85500" y="4318000"/>
            <a:ext cx="3937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SEC filings, federal rule updates, compliance guidance, and regulatory change tracking.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 / 15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84200"/>
            <a:ext cx="508000" cy="254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kern="0" spc="100" dirty="0">
                <a:solidFill>
                  <a:srgbClr val="1B253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4572000" cy="3048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958850" y="20320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114300" y="28575"/>
                </a:moveTo>
                <a:cubicBezTo>
                  <a:pt x="82778" y="28575"/>
                  <a:pt x="57150" y="54203"/>
                  <a:pt x="57150" y="85725"/>
                </a:cubicBezTo>
                <a:lnTo>
                  <a:pt x="57150" y="300038"/>
                </a:lnTo>
                <a:lnTo>
                  <a:pt x="114300" y="300038"/>
                </a:lnTo>
                <a:lnTo>
                  <a:pt x="114300" y="85725"/>
                </a:lnTo>
                <a:lnTo>
                  <a:pt x="457200" y="85725"/>
                </a:lnTo>
                <a:lnTo>
                  <a:pt x="457200" y="300038"/>
                </a:lnTo>
                <a:lnTo>
                  <a:pt x="514350" y="300038"/>
                </a:lnTo>
                <a:lnTo>
                  <a:pt x="514350" y="85725"/>
                </a:lnTo>
                <a:cubicBezTo>
                  <a:pt x="514350" y="54203"/>
                  <a:pt x="488722" y="28575"/>
                  <a:pt x="457200" y="28575"/>
                </a:cubicBezTo>
                <a:lnTo>
                  <a:pt x="114300" y="28575"/>
                </a:lnTo>
                <a:close/>
                <a:moveTo>
                  <a:pt x="17145" y="342900"/>
                </a:moveTo>
                <a:cubicBezTo>
                  <a:pt x="7680" y="342900"/>
                  <a:pt x="0" y="350580"/>
                  <a:pt x="0" y="360045"/>
                </a:cubicBezTo>
                <a:cubicBezTo>
                  <a:pt x="0" y="397907"/>
                  <a:pt x="30718" y="428625"/>
                  <a:pt x="68580" y="428625"/>
                </a:cubicBezTo>
                <a:lnTo>
                  <a:pt x="502920" y="428625"/>
                </a:lnTo>
                <a:cubicBezTo>
                  <a:pt x="540782" y="428625"/>
                  <a:pt x="571500" y="397907"/>
                  <a:pt x="571500" y="360045"/>
                </a:cubicBezTo>
                <a:cubicBezTo>
                  <a:pt x="571500" y="350580"/>
                  <a:pt x="563820" y="342900"/>
                  <a:pt x="554355" y="342900"/>
                </a:cubicBezTo>
                <a:lnTo>
                  <a:pt x="17145" y="342900"/>
                </a:lnTo>
                <a:close/>
              </a:path>
            </a:pathLst>
          </a:cu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651000" y="2032000"/>
            <a:ext cx="342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53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667000"/>
            <a:ext cx="406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Streamlit conversational UI provides an interactive, lightweight interface for ad-hoc market queries.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588000" y="1778000"/>
            <a:ext cx="4572000" cy="3048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5870575" y="2032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142875"/>
                </a:lnTo>
                <a:cubicBezTo>
                  <a:pt x="0" y="174397"/>
                  <a:pt x="25628" y="200025"/>
                  <a:pt x="57150" y="200025"/>
                </a:cubicBezTo>
                <a:lnTo>
                  <a:pt x="342900" y="200025"/>
                </a:lnTo>
                <a:cubicBezTo>
                  <a:pt x="374422" y="200025"/>
                  <a:pt x="400050" y="174397"/>
                  <a:pt x="400050" y="142875"/>
                </a:cubicBezTo>
                <a:lnTo>
                  <a:pt x="400050" y="85725"/>
                </a:lnTo>
                <a:cubicBezTo>
                  <a:pt x="400050" y="54203"/>
                  <a:pt x="374422" y="28575"/>
                  <a:pt x="342900" y="28575"/>
                </a:cubicBezTo>
                <a:lnTo>
                  <a:pt x="57150" y="28575"/>
                </a:lnTo>
                <a:close/>
                <a:moveTo>
                  <a:pt x="250031" y="92869"/>
                </a:moveTo>
                <a:cubicBezTo>
                  <a:pt x="261859" y="92869"/>
                  <a:pt x="271463" y="102472"/>
                  <a:pt x="271463" y="114300"/>
                </a:cubicBezTo>
                <a:cubicBezTo>
                  <a:pt x="271463" y="126128"/>
                  <a:pt x="261859" y="135731"/>
                  <a:pt x="250031" y="135731"/>
                </a:cubicBezTo>
                <a:cubicBezTo>
                  <a:pt x="238203" y="135731"/>
                  <a:pt x="228600" y="126128"/>
                  <a:pt x="228600" y="114300"/>
                </a:cubicBezTo>
                <a:cubicBezTo>
                  <a:pt x="228600" y="102472"/>
                  <a:pt x="238203" y="92869"/>
                  <a:pt x="250031" y="92869"/>
                </a:cubicBezTo>
                <a:close/>
                <a:moveTo>
                  <a:pt x="300038" y="114300"/>
                </a:moveTo>
                <a:cubicBezTo>
                  <a:pt x="300038" y="102472"/>
                  <a:pt x="309641" y="92869"/>
                  <a:pt x="321469" y="92869"/>
                </a:cubicBezTo>
                <a:cubicBezTo>
                  <a:pt x="333297" y="92869"/>
                  <a:pt x="342900" y="102472"/>
                  <a:pt x="342900" y="114300"/>
                </a:cubicBezTo>
                <a:cubicBezTo>
                  <a:pt x="342900" y="126128"/>
                  <a:pt x="333297" y="135731"/>
                  <a:pt x="321469" y="135731"/>
                </a:cubicBezTo>
                <a:cubicBezTo>
                  <a:pt x="309641" y="135731"/>
                  <a:pt x="300038" y="126128"/>
                  <a:pt x="300038" y="114300"/>
                </a:cubicBezTo>
                <a:close/>
                <a:moveTo>
                  <a:pt x="57150" y="257175"/>
                </a:moveTo>
                <a:cubicBezTo>
                  <a:pt x="25628" y="257175"/>
                  <a:pt x="0" y="282803"/>
                  <a:pt x="0" y="31432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342900" y="428625"/>
                </a:lnTo>
                <a:cubicBezTo>
                  <a:pt x="374422" y="428625"/>
                  <a:pt x="400050" y="402997"/>
                  <a:pt x="400050" y="371475"/>
                </a:cubicBezTo>
                <a:lnTo>
                  <a:pt x="400050" y="314325"/>
                </a:lnTo>
                <a:cubicBezTo>
                  <a:pt x="400050" y="282803"/>
                  <a:pt x="374422" y="257175"/>
                  <a:pt x="342900" y="257175"/>
                </a:cubicBezTo>
                <a:lnTo>
                  <a:pt x="57150" y="257175"/>
                </a:lnTo>
                <a:close/>
                <a:moveTo>
                  <a:pt x="250031" y="321469"/>
                </a:moveTo>
                <a:cubicBezTo>
                  <a:pt x="261859" y="321469"/>
                  <a:pt x="271463" y="331072"/>
                  <a:pt x="271463" y="342900"/>
                </a:cubicBezTo>
                <a:cubicBezTo>
                  <a:pt x="271463" y="354728"/>
                  <a:pt x="261859" y="364331"/>
                  <a:pt x="250031" y="364331"/>
                </a:cubicBezTo>
                <a:cubicBezTo>
                  <a:pt x="238203" y="364331"/>
                  <a:pt x="228600" y="354728"/>
                  <a:pt x="228600" y="342900"/>
                </a:cubicBezTo>
                <a:cubicBezTo>
                  <a:pt x="228600" y="331072"/>
                  <a:pt x="238203" y="321469"/>
                  <a:pt x="250031" y="321469"/>
                </a:cubicBezTo>
                <a:close/>
                <a:moveTo>
                  <a:pt x="300038" y="342900"/>
                </a:moveTo>
                <a:cubicBezTo>
                  <a:pt x="300038" y="331072"/>
                  <a:pt x="309641" y="321469"/>
                  <a:pt x="321469" y="321469"/>
                </a:cubicBezTo>
                <a:cubicBezTo>
                  <a:pt x="333297" y="321469"/>
                  <a:pt x="342900" y="331072"/>
                  <a:pt x="342900" y="342900"/>
                </a:cubicBezTo>
                <a:cubicBezTo>
                  <a:pt x="342900" y="354728"/>
                  <a:pt x="333297" y="364331"/>
                  <a:pt x="321469" y="364331"/>
                </a:cubicBezTo>
                <a:cubicBezTo>
                  <a:pt x="309641" y="364331"/>
                  <a:pt x="300038" y="354728"/>
                  <a:pt x="300038" y="342900"/>
                </a:cubicBezTo>
                <a:close/>
              </a:path>
            </a:pathLst>
          </a:cu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477000" y="2032000"/>
            <a:ext cx="342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53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LAYER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42000" y="2667000"/>
            <a:ext cx="406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FastAPI service with authenticated query endpoints handles orchestration and business logic.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414000" y="1778000"/>
            <a:ext cx="4572000" cy="3048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10668000" y="203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71475" y="185738"/>
                </a:moveTo>
                <a:cubicBezTo>
                  <a:pt x="371475" y="226725"/>
                  <a:pt x="358170" y="264587"/>
                  <a:pt x="335756" y="295305"/>
                </a:cubicBezTo>
                <a:lnTo>
                  <a:pt x="448806" y="408444"/>
                </a:lnTo>
                <a:cubicBezTo>
                  <a:pt x="459968" y="419606"/>
                  <a:pt x="459968" y="437733"/>
                  <a:pt x="448806" y="448895"/>
                </a:cubicBezTo>
                <a:cubicBezTo>
                  <a:pt x="437644" y="460058"/>
                  <a:pt x="419517" y="460058"/>
                  <a:pt x="408355" y="448895"/>
                </a:cubicBezTo>
                <a:lnTo>
                  <a:pt x="295305" y="335756"/>
                </a:lnTo>
                <a:cubicBezTo>
                  <a:pt x="264587" y="358170"/>
                  <a:pt x="226725" y="371475"/>
                  <a:pt x="185738" y="371475"/>
                </a:cubicBezTo>
                <a:cubicBezTo>
                  <a:pt x="83135" y="371475"/>
                  <a:pt x="0" y="288340"/>
                  <a:pt x="0" y="185738"/>
                </a:cubicBezTo>
                <a:cubicBezTo>
                  <a:pt x="0" y="83135"/>
                  <a:pt x="83135" y="0"/>
                  <a:pt x="185738" y="0"/>
                </a:cubicBezTo>
                <a:cubicBezTo>
                  <a:pt x="288340" y="0"/>
                  <a:pt x="371475" y="83135"/>
                  <a:pt x="371475" y="185738"/>
                </a:cubicBezTo>
                <a:close/>
                <a:moveTo>
                  <a:pt x="185738" y="314325"/>
                </a:moveTo>
                <a:cubicBezTo>
                  <a:pt x="256707" y="314325"/>
                  <a:pt x="314325" y="256707"/>
                  <a:pt x="314325" y="185738"/>
                </a:cubicBezTo>
                <a:cubicBezTo>
                  <a:pt x="314325" y="114768"/>
                  <a:pt x="256707" y="57150"/>
                  <a:pt x="185738" y="57150"/>
                </a:cubicBezTo>
                <a:cubicBezTo>
                  <a:pt x="114768" y="57150"/>
                  <a:pt x="57150" y="114768"/>
                  <a:pt x="57150" y="185737"/>
                </a:cubicBezTo>
                <a:cubicBezTo>
                  <a:pt x="57150" y="256707"/>
                  <a:pt x="114768" y="314325"/>
                  <a:pt x="185737" y="314325"/>
                </a:cubicBezTo>
                <a:close/>
              </a:path>
            </a:pathLst>
          </a:cu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1303000" y="2032000"/>
            <a:ext cx="342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53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RETRIEVAL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668000" y="2667000"/>
            <a:ext cx="406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Qdrant vector database powers semantic retrieval with high-performance similarity search.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5143500"/>
            <a:ext cx="4572000" cy="3048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1044575" y="5397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400050" y="183773"/>
                </a:moveTo>
                <a:cubicBezTo>
                  <a:pt x="386834" y="192524"/>
                  <a:pt x="371654" y="199579"/>
                  <a:pt x="355848" y="205204"/>
                </a:cubicBezTo>
                <a:cubicBezTo>
                  <a:pt x="313879" y="220206"/>
                  <a:pt x="258782" y="228600"/>
                  <a:pt x="200025" y="228600"/>
                </a:cubicBezTo>
                <a:cubicBezTo>
                  <a:pt x="141268" y="228600"/>
                  <a:pt x="86082" y="220117"/>
                  <a:pt x="44202" y="205204"/>
                </a:cubicBezTo>
                <a:cubicBezTo>
                  <a:pt x="28486" y="199579"/>
                  <a:pt x="13216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89565" y="328613"/>
                  <a:pt x="200025" y="328613"/>
                </a:cubicBezTo>
                <a:cubicBezTo>
                  <a:pt x="310485" y="328613"/>
                  <a:pt x="400050" y="296644"/>
                  <a:pt x="400050" y="257175"/>
                </a:cubicBezTo>
                <a:lnTo>
                  <a:pt x="400050" y="183773"/>
                </a:lnTo>
                <a:close/>
                <a:moveTo>
                  <a:pt x="400050" y="114300"/>
                </a:moveTo>
                <a:lnTo>
                  <a:pt x="400050" y="71438"/>
                </a:lnTo>
                <a:cubicBezTo>
                  <a:pt x="400050" y="31968"/>
                  <a:pt x="310485" y="0"/>
                  <a:pt x="200025" y="0"/>
                </a:cubicBezTo>
                <a:cubicBezTo>
                  <a:pt x="89565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89565" y="185738"/>
                  <a:pt x="200025" y="185738"/>
                </a:cubicBezTo>
                <a:cubicBezTo>
                  <a:pt x="310485" y="185738"/>
                  <a:pt x="400050" y="153769"/>
                  <a:pt x="400050" y="114300"/>
                </a:cubicBezTo>
                <a:close/>
                <a:moveTo>
                  <a:pt x="355848" y="348079"/>
                </a:moveTo>
                <a:cubicBezTo>
                  <a:pt x="313968" y="362992"/>
                  <a:pt x="258872" y="371475"/>
                  <a:pt x="200025" y="371475"/>
                </a:cubicBezTo>
                <a:cubicBezTo>
                  <a:pt x="141178" y="371475"/>
                  <a:pt x="86082" y="362992"/>
                  <a:pt x="44202" y="348079"/>
                </a:cubicBezTo>
                <a:cubicBezTo>
                  <a:pt x="28486" y="342454"/>
                  <a:pt x="13216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89565" y="457200"/>
                  <a:pt x="200025" y="457200"/>
                </a:cubicBezTo>
                <a:cubicBezTo>
                  <a:pt x="310485" y="457200"/>
                  <a:pt x="400050" y="425232"/>
                  <a:pt x="400050" y="385763"/>
                </a:cubicBezTo>
                <a:lnTo>
                  <a:pt x="400050" y="326648"/>
                </a:lnTo>
                <a:cubicBezTo>
                  <a:pt x="386834" y="335399"/>
                  <a:pt x="371654" y="342454"/>
                  <a:pt x="355848" y="348079"/>
                </a:cubicBezTo>
                <a:close/>
              </a:path>
            </a:pathLst>
          </a:cu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651000" y="5397500"/>
            <a:ext cx="342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53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6032500"/>
            <a:ext cx="406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PostgreSQL captures persistent operational records, query history, and audit logs.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588000" y="5143500"/>
            <a:ext cx="4572000" cy="3048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5842000" y="539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477000" y="5397500"/>
            <a:ext cx="342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53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MODELS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42000" y="6032500"/>
            <a:ext cx="406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Azure OpenAI and GitHub model endpoints handle embeddings and LLM generation.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414000" y="5143500"/>
            <a:ext cx="4572000" cy="3048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10668000" y="5397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/>
            </a:pathLst>
          </a:cu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11303000" y="5397500"/>
            <a:ext cx="342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53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668000" y="6032500"/>
            <a:ext cx="406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Docker Compose containerization ensures reproducibility across local and hosted environments.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 / 15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84200"/>
            <a:ext cx="508000" cy="254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270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kern="0" spc="100" dirty="0">
                <a:solidFill>
                  <a:srgbClr val="1B253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RAG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62000" y="1905000"/>
            <a:ext cx="2794000" cy="3302000"/>
          </a:xfrm>
          <a:prstGeom prst="rect">
            <a:avLst/>
          </a:prstGeom>
          <a:solidFill>
            <a:srgbClr val="1B25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62000" y="203200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C9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905000" y="2667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58564" y="0"/>
                  <a:pt x="263128" y="992"/>
                  <a:pt x="267295" y="2877"/>
                </a:cubicBezTo>
                <a:lnTo>
                  <a:pt x="454223" y="82153"/>
                </a:lnTo>
                <a:cubicBezTo>
                  <a:pt x="476052" y="91380"/>
                  <a:pt x="492323" y="112911"/>
                  <a:pt x="492224" y="138906"/>
                </a:cubicBezTo>
                <a:cubicBezTo>
                  <a:pt x="491728" y="237331"/>
                  <a:pt x="451247" y="417413"/>
                  <a:pt x="280293" y="499269"/>
                </a:cubicBezTo>
                <a:cubicBezTo>
                  <a:pt x="263723" y="507206"/>
                  <a:pt x="244475" y="507206"/>
                  <a:pt x="227905" y="499269"/>
                </a:cubicBezTo>
                <a:cubicBezTo>
                  <a:pt x="56852" y="417413"/>
                  <a:pt x="16470" y="237331"/>
                  <a:pt x="15974" y="138906"/>
                </a:cubicBezTo>
                <a:cubicBezTo>
                  <a:pt x="15875" y="112911"/>
                  <a:pt x="32147" y="91380"/>
                  <a:pt x="53975" y="82153"/>
                </a:cubicBezTo>
                <a:lnTo>
                  <a:pt x="240804" y="2877"/>
                </a:lnTo>
                <a:cubicBezTo>
                  <a:pt x="244971" y="992"/>
                  <a:pt x="249436" y="0"/>
                  <a:pt x="254000" y="0"/>
                </a:cubicBezTo>
                <a:close/>
                <a:moveTo>
                  <a:pt x="254000" y="66278"/>
                </a:moveTo>
                <a:lnTo>
                  <a:pt x="254000" y="441424"/>
                </a:lnTo>
                <a:cubicBezTo>
                  <a:pt x="390922" y="375146"/>
                  <a:pt x="427732" y="228302"/>
                  <a:pt x="428625" y="140395"/>
                </a:cubicBezTo>
                <a:lnTo>
                  <a:pt x="254000" y="66377"/>
                </a:lnTo>
                <a:lnTo>
                  <a:pt x="254000" y="66377"/>
                </a:lnTo>
                <a:close/>
              </a:path>
            </a:pathLst>
          </a:cu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52500" y="3365500"/>
            <a:ext cx="241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GUARDRAILS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2500" y="3873500"/>
            <a:ext cx="241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 query scope and reject unsafe or off-domain requests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83000" y="3492500"/>
            <a:ext cx="381000" cy="0"/>
          </a:xfrm>
          <a:prstGeom prst="straightConnector1">
            <a:avLst/>
          </a:prstGeom>
          <a:noFill/>
          <a:ln w="25400">
            <a:solidFill>
              <a:srgbClr val="C9A96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191000" y="1905000"/>
            <a:ext cx="2794000" cy="3302000"/>
          </a:xfrm>
          <a:prstGeom prst="rect">
            <a:avLst/>
          </a:prstGeom>
          <a:solidFill>
            <a:srgbClr val="1B25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191000" y="203200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C9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65750" y="2667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444500" y="204192"/>
                </a:moveTo>
                <a:cubicBezTo>
                  <a:pt x="429816" y="213916"/>
                  <a:pt x="412948" y="221754"/>
                  <a:pt x="395387" y="228005"/>
                </a:cubicBezTo>
                <a:cubicBezTo>
                  <a:pt x="348754" y="244673"/>
                  <a:pt x="287536" y="254000"/>
                  <a:pt x="222250" y="254000"/>
                </a:cubicBezTo>
                <a:cubicBezTo>
                  <a:pt x="156964" y="254000"/>
                  <a:pt x="95647" y="244574"/>
                  <a:pt x="49113" y="228005"/>
                </a:cubicBezTo>
                <a:cubicBezTo>
                  <a:pt x="31651" y="221754"/>
                  <a:pt x="14684" y="213916"/>
                  <a:pt x="0" y="204192"/>
                </a:cubicBezTo>
                <a:lnTo>
                  <a:pt x="0" y="285750"/>
                </a:lnTo>
                <a:cubicBezTo>
                  <a:pt x="0" y="329605"/>
                  <a:pt x="99516" y="365125"/>
                  <a:pt x="222250" y="365125"/>
                </a:cubicBezTo>
                <a:cubicBezTo>
                  <a:pt x="344984" y="365125"/>
                  <a:pt x="444500" y="329605"/>
                  <a:pt x="444500" y="285750"/>
                </a:cubicBezTo>
                <a:lnTo>
                  <a:pt x="444500" y="204192"/>
                </a:lnTo>
                <a:close/>
                <a:moveTo>
                  <a:pt x="444500" y="127000"/>
                </a:moveTo>
                <a:lnTo>
                  <a:pt x="444500" y="79375"/>
                </a:lnTo>
                <a:cubicBezTo>
                  <a:pt x="444500" y="35520"/>
                  <a:pt x="344984" y="0"/>
                  <a:pt x="222250" y="0"/>
                </a:cubicBezTo>
                <a:cubicBezTo>
                  <a:pt x="99516" y="0"/>
                  <a:pt x="0" y="35520"/>
                  <a:pt x="0" y="79375"/>
                </a:cubicBezTo>
                <a:lnTo>
                  <a:pt x="0" y="127000"/>
                </a:lnTo>
                <a:cubicBezTo>
                  <a:pt x="0" y="170855"/>
                  <a:pt x="99516" y="206375"/>
                  <a:pt x="222250" y="206375"/>
                </a:cubicBezTo>
                <a:cubicBezTo>
                  <a:pt x="344984" y="206375"/>
                  <a:pt x="444500" y="170855"/>
                  <a:pt x="444500" y="127000"/>
                </a:cubicBezTo>
                <a:close/>
                <a:moveTo>
                  <a:pt x="395387" y="386755"/>
                </a:moveTo>
                <a:cubicBezTo>
                  <a:pt x="348853" y="403324"/>
                  <a:pt x="287635" y="412750"/>
                  <a:pt x="222250" y="412750"/>
                </a:cubicBezTo>
                <a:cubicBezTo>
                  <a:pt x="156865" y="412750"/>
                  <a:pt x="95647" y="403324"/>
                  <a:pt x="49113" y="386755"/>
                </a:cubicBezTo>
                <a:cubicBezTo>
                  <a:pt x="31651" y="380504"/>
                  <a:pt x="14684" y="372666"/>
                  <a:pt x="0" y="362942"/>
                </a:cubicBezTo>
                <a:lnTo>
                  <a:pt x="0" y="428625"/>
                </a:lnTo>
                <a:cubicBezTo>
                  <a:pt x="0" y="472480"/>
                  <a:pt x="99516" y="508000"/>
                  <a:pt x="222250" y="508000"/>
                </a:cubicBezTo>
                <a:cubicBezTo>
                  <a:pt x="344984" y="508000"/>
                  <a:pt x="444500" y="472480"/>
                  <a:pt x="444500" y="428625"/>
                </a:cubicBezTo>
                <a:lnTo>
                  <a:pt x="444500" y="362942"/>
                </a:lnTo>
                <a:cubicBezTo>
                  <a:pt x="429816" y="372666"/>
                  <a:pt x="412948" y="380504"/>
                  <a:pt x="395387" y="386755"/>
                </a:cubicBezTo>
                <a:close/>
              </a:path>
            </a:pathLst>
          </a:cu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381500" y="3365500"/>
            <a:ext cx="241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RETRIEVER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81500" y="3873500"/>
            <a:ext cx="241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Embed query and fetch top candidate chunks from vector store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12000" y="3492500"/>
            <a:ext cx="381000" cy="0"/>
          </a:xfrm>
          <a:prstGeom prst="straightConnector1">
            <a:avLst/>
          </a:prstGeom>
          <a:noFill/>
          <a:ln w="25400">
            <a:solidFill>
              <a:srgbClr val="C9A96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7620000" y="1905000"/>
            <a:ext cx="2794000" cy="3302000"/>
          </a:xfrm>
          <a:prstGeom prst="rect">
            <a:avLst/>
          </a:prstGeom>
          <a:solidFill>
            <a:srgbClr val="1B25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7620000" y="203200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C9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763000" y="2667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1750" y="63500"/>
                </a:moveTo>
                <a:cubicBezTo>
                  <a:pt x="18951" y="63500"/>
                  <a:pt x="7342" y="71239"/>
                  <a:pt x="2381" y="83145"/>
                </a:cubicBezTo>
                <a:cubicBezTo>
                  <a:pt x="-2580" y="95052"/>
                  <a:pt x="198" y="108645"/>
                  <a:pt x="9327" y="117673"/>
                </a:cubicBezTo>
                <a:lnTo>
                  <a:pt x="190500" y="298946"/>
                </a:lnTo>
                <a:lnTo>
                  <a:pt x="190500" y="412750"/>
                </a:lnTo>
                <a:cubicBezTo>
                  <a:pt x="190500" y="421184"/>
                  <a:pt x="193873" y="429220"/>
                  <a:pt x="199827" y="435173"/>
                </a:cubicBezTo>
                <a:lnTo>
                  <a:pt x="263327" y="498673"/>
                </a:lnTo>
                <a:cubicBezTo>
                  <a:pt x="272455" y="507802"/>
                  <a:pt x="286048" y="510480"/>
                  <a:pt x="297954" y="505520"/>
                </a:cubicBezTo>
                <a:cubicBezTo>
                  <a:pt x="309860" y="500559"/>
                  <a:pt x="317500" y="489049"/>
                  <a:pt x="317500" y="476250"/>
                </a:cubicBezTo>
                <a:lnTo>
                  <a:pt x="317500" y="298946"/>
                </a:lnTo>
                <a:lnTo>
                  <a:pt x="498673" y="117773"/>
                </a:lnTo>
                <a:cubicBezTo>
                  <a:pt x="507802" y="108645"/>
                  <a:pt x="510480" y="95052"/>
                  <a:pt x="505520" y="83145"/>
                </a:cubicBezTo>
                <a:cubicBezTo>
                  <a:pt x="500559" y="71239"/>
                  <a:pt x="489049" y="63500"/>
                  <a:pt x="476250" y="63500"/>
                </a:cubicBezTo>
                <a:lnTo>
                  <a:pt x="31750" y="63500"/>
                </a:lnTo>
                <a:close/>
              </a:path>
            </a:pathLst>
          </a:cu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810500" y="3365500"/>
            <a:ext cx="241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RERANKER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810500" y="3873500"/>
            <a:ext cx="241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Refine candidates to highest-value context for generation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541000" y="3492500"/>
            <a:ext cx="381000" cy="0"/>
          </a:xfrm>
          <a:prstGeom prst="straightConnector1">
            <a:avLst/>
          </a:prstGeom>
          <a:noFill/>
          <a:ln w="25400">
            <a:solidFill>
              <a:srgbClr val="C9A96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11049000" y="1905000"/>
            <a:ext cx="2794000" cy="3302000"/>
          </a:xfrm>
          <a:prstGeom prst="rect">
            <a:avLst/>
          </a:prstGeom>
          <a:solidFill>
            <a:srgbClr val="1B25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11049000" y="203200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C9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160250" y="2667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61342" y="-26789"/>
                </a:moveTo>
                <a:lnTo>
                  <a:pt x="276027" y="9723"/>
                </a:lnTo>
                <a:lnTo>
                  <a:pt x="312539" y="24408"/>
                </a:lnTo>
                <a:cubicBezTo>
                  <a:pt x="315516" y="25598"/>
                  <a:pt x="317500" y="28575"/>
                  <a:pt x="317500" y="31750"/>
                </a:cubicBezTo>
                <a:cubicBezTo>
                  <a:pt x="317500" y="34925"/>
                  <a:pt x="315516" y="37902"/>
                  <a:pt x="312539" y="39092"/>
                </a:cubicBezTo>
                <a:lnTo>
                  <a:pt x="276027" y="53777"/>
                </a:lnTo>
                <a:lnTo>
                  <a:pt x="261342" y="90289"/>
                </a:lnTo>
                <a:cubicBezTo>
                  <a:pt x="260152" y="93266"/>
                  <a:pt x="257175" y="95250"/>
                  <a:pt x="254000" y="95250"/>
                </a:cubicBezTo>
                <a:cubicBezTo>
                  <a:pt x="250825" y="95250"/>
                  <a:pt x="247848" y="93266"/>
                  <a:pt x="246658" y="90289"/>
                </a:cubicBezTo>
                <a:lnTo>
                  <a:pt x="231973" y="53777"/>
                </a:lnTo>
                <a:lnTo>
                  <a:pt x="195461" y="39092"/>
                </a:lnTo>
                <a:cubicBezTo>
                  <a:pt x="192484" y="37902"/>
                  <a:pt x="190500" y="34925"/>
                  <a:pt x="190500" y="31750"/>
                </a:cubicBezTo>
                <a:cubicBezTo>
                  <a:pt x="190500" y="28575"/>
                  <a:pt x="192484" y="25598"/>
                  <a:pt x="195461" y="24408"/>
                </a:cubicBezTo>
                <a:lnTo>
                  <a:pt x="231973" y="9723"/>
                </a:lnTo>
                <a:lnTo>
                  <a:pt x="246658" y="-26789"/>
                </a:lnTo>
                <a:cubicBezTo>
                  <a:pt x="247848" y="-29766"/>
                  <a:pt x="250825" y="-31750"/>
                  <a:pt x="254000" y="-31750"/>
                </a:cubicBezTo>
                <a:cubicBezTo>
                  <a:pt x="257175" y="-31750"/>
                  <a:pt x="260152" y="-29766"/>
                  <a:pt x="261342" y="-26789"/>
                </a:cubicBezTo>
                <a:close/>
                <a:moveTo>
                  <a:pt x="109835" y="41374"/>
                </a:moveTo>
                <a:lnTo>
                  <a:pt x="131167" y="91083"/>
                </a:lnTo>
                <a:lnTo>
                  <a:pt x="180876" y="112415"/>
                </a:lnTo>
                <a:cubicBezTo>
                  <a:pt x="186730" y="114895"/>
                  <a:pt x="190500" y="120650"/>
                  <a:pt x="190500" y="127000"/>
                </a:cubicBezTo>
                <a:cubicBezTo>
                  <a:pt x="190500" y="133350"/>
                  <a:pt x="186730" y="139105"/>
                  <a:pt x="180876" y="141585"/>
                </a:cubicBezTo>
                <a:lnTo>
                  <a:pt x="131167" y="162917"/>
                </a:lnTo>
                <a:lnTo>
                  <a:pt x="109835" y="212626"/>
                </a:lnTo>
                <a:cubicBezTo>
                  <a:pt x="107355" y="218480"/>
                  <a:pt x="101600" y="222250"/>
                  <a:pt x="95250" y="222250"/>
                </a:cubicBezTo>
                <a:cubicBezTo>
                  <a:pt x="88900" y="222250"/>
                  <a:pt x="83145" y="218480"/>
                  <a:pt x="80665" y="212626"/>
                </a:cubicBezTo>
                <a:lnTo>
                  <a:pt x="59333" y="162917"/>
                </a:lnTo>
                <a:lnTo>
                  <a:pt x="9624" y="141585"/>
                </a:lnTo>
                <a:cubicBezTo>
                  <a:pt x="3770" y="139105"/>
                  <a:pt x="0" y="133350"/>
                  <a:pt x="0" y="127000"/>
                </a:cubicBezTo>
                <a:cubicBezTo>
                  <a:pt x="0" y="120650"/>
                  <a:pt x="3770" y="114895"/>
                  <a:pt x="9624" y="112415"/>
                </a:cubicBezTo>
                <a:lnTo>
                  <a:pt x="59333" y="91083"/>
                </a:lnTo>
                <a:lnTo>
                  <a:pt x="80665" y="41374"/>
                </a:lnTo>
                <a:cubicBezTo>
                  <a:pt x="83145" y="35520"/>
                  <a:pt x="88900" y="31750"/>
                  <a:pt x="95250" y="31750"/>
                </a:cubicBezTo>
                <a:cubicBezTo>
                  <a:pt x="101600" y="31750"/>
                  <a:pt x="107355" y="35520"/>
                  <a:pt x="109835" y="41374"/>
                </a:cubicBezTo>
                <a:close/>
                <a:moveTo>
                  <a:pt x="460375" y="301625"/>
                </a:moveTo>
                <a:cubicBezTo>
                  <a:pt x="466725" y="301625"/>
                  <a:pt x="472480" y="305395"/>
                  <a:pt x="474960" y="311249"/>
                </a:cubicBezTo>
                <a:lnTo>
                  <a:pt x="496292" y="360958"/>
                </a:lnTo>
                <a:lnTo>
                  <a:pt x="546001" y="382290"/>
                </a:lnTo>
                <a:cubicBezTo>
                  <a:pt x="551855" y="384770"/>
                  <a:pt x="555625" y="390525"/>
                  <a:pt x="555625" y="396875"/>
                </a:cubicBezTo>
                <a:cubicBezTo>
                  <a:pt x="555625" y="403225"/>
                  <a:pt x="551855" y="408980"/>
                  <a:pt x="546001" y="411460"/>
                </a:cubicBezTo>
                <a:lnTo>
                  <a:pt x="496292" y="432792"/>
                </a:lnTo>
                <a:lnTo>
                  <a:pt x="474960" y="482501"/>
                </a:lnTo>
                <a:cubicBezTo>
                  <a:pt x="472480" y="488355"/>
                  <a:pt x="466725" y="492125"/>
                  <a:pt x="460375" y="492125"/>
                </a:cubicBezTo>
                <a:cubicBezTo>
                  <a:pt x="454025" y="492125"/>
                  <a:pt x="448270" y="488355"/>
                  <a:pt x="445790" y="482501"/>
                </a:cubicBezTo>
                <a:lnTo>
                  <a:pt x="424458" y="432792"/>
                </a:lnTo>
                <a:lnTo>
                  <a:pt x="374749" y="411460"/>
                </a:lnTo>
                <a:cubicBezTo>
                  <a:pt x="368895" y="408980"/>
                  <a:pt x="365125" y="403225"/>
                  <a:pt x="365125" y="396875"/>
                </a:cubicBezTo>
                <a:cubicBezTo>
                  <a:pt x="365125" y="390525"/>
                  <a:pt x="368895" y="384770"/>
                  <a:pt x="374749" y="382290"/>
                </a:cubicBezTo>
                <a:lnTo>
                  <a:pt x="424458" y="360958"/>
                </a:lnTo>
                <a:lnTo>
                  <a:pt x="445790" y="311249"/>
                </a:lnTo>
                <a:cubicBezTo>
                  <a:pt x="448270" y="305395"/>
                  <a:pt x="454025" y="301625"/>
                  <a:pt x="460375" y="301625"/>
                </a:cubicBezTo>
                <a:close/>
                <a:moveTo>
                  <a:pt x="456406" y="0"/>
                </a:moveTo>
                <a:cubicBezTo>
                  <a:pt x="467320" y="0"/>
                  <a:pt x="477838" y="4366"/>
                  <a:pt x="485676" y="12105"/>
                </a:cubicBezTo>
                <a:lnTo>
                  <a:pt x="527645" y="54074"/>
                </a:lnTo>
                <a:cubicBezTo>
                  <a:pt x="535384" y="61913"/>
                  <a:pt x="539750" y="72430"/>
                  <a:pt x="539750" y="83344"/>
                </a:cubicBezTo>
                <a:cubicBezTo>
                  <a:pt x="539750" y="94258"/>
                  <a:pt x="535384" y="104775"/>
                  <a:pt x="527645" y="112613"/>
                </a:cubicBezTo>
                <a:lnTo>
                  <a:pt x="440134" y="200124"/>
                </a:lnTo>
                <a:lnTo>
                  <a:pt x="339626" y="99616"/>
                </a:lnTo>
                <a:lnTo>
                  <a:pt x="427137" y="12105"/>
                </a:lnTo>
                <a:cubicBezTo>
                  <a:pt x="434975" y="4366"/>
                  <a:pt x="445492" y="0"/>
                  <a:pt x="456406" y="0"/>
                </a:cubicBezTo>
                <a:close/>
                <a:moveTo>
                  <a:pt x="43855" y="395387"/>
                </a:moveTo>
                <a:lnTo>
                  <a:pt x="305991" y="133251"/>
                </a:lnTo>
                <a:lnTo>
                  <a:pt x="406499" y="233759"/>
                </a:lnTo>
                <a:lnTo>
                  <a:pt x="144363" y="495895"/>
                </a:lnTo>
                <a:cubicBezTo>
                  <a:pt x="136525" y="503634"/>
                  <a:pt x="126008" y="508000"/>
                  <a:pt x="115094" y="508000"/>
                </a:cubicBezTo>
                <a:cubicBezTo>
                  <a:pt x="104180" y="508000"/>
                  <a:pt x="93663" y="503634"/>
                  <a:pt x="85824" y="495895"/>
                </a:cubicBezTo>
                <a:lnTo>
                  <a:pt x="43855" y="453926"/>
                </a:lnTo>
                <a:cubicBezTo>
                  <a:pt x="36116" y="446088"/>
                  <a:pt x="31750" y="435570"/>
                  <a:pt x="31750" y="424656"/>
                </a:cubicBezTo>
                <a:cubicBezTo>
                  <a:pt x="31750" y="413742"/>
                  <a:pt x="36116" y="403225"/>
                  <a:pt x="43855" y="395387"/>
                </a:cubicBezTo>
                <a:close/>
              </a:path>
            </a:pathLst>
          </a:cu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11239500" y="3365500"/>
            <a:ext cx="241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GENERATOR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239500" y="3873500"/>
            <a:ext cx="241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final answer from constrained, filtered context only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3970000" y="3492500"/>
            <a:ext cx="381000" cy="0"/>
          </a:xfrm>
          <a:prstGeom prst="straightConnector1">
            <a:avLst/>
          </a:prstGeom>
          <a:noFill/>
          <a:ln w="25400">
            <a:solidFill>
              <a:srgbClr val="C9A96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14478000" y="1905000"/>
            <a:ext cx="1270000" cy="33020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14478000" y="2032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1B253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4922500" y="26670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0" y="63500"/>
                </a:moveTo>
                <a:cubicBezTo>
                  <a:pt x="0" y="28476"/>
                  <a:pt x="28476" y="0"/>
                  <a:pt x="63500" y="0"/>
                </a:cubicBezTo>
                <a:lnTo>
                  <a:pt x="211832" y="0"/>
                </a:lnTo>
                <a:cubicBezTo>
                  <a:pt x="228699" y="0"/>
                  <a:pt x="244872" y="6648"/>
                  <a:pt x="256778" y="18554"/>
                </a:cubicBezTo>
                <a:lnTo>
                  <a:pt x="362446" y="124321"/>
                </a:lnTo>
                <a:cubicBezTo>
                  <a:pt x="374352" y="136227"/>
                  <a:pt x="381000" y="152400"/>
                  <a:pt x="381000" y="169267"/>
                </a:cubicBezTo>
                <a:lnTo>
                  <a:pt x="381000" y="444500"/>
                </a:lnTo>
                <a:cubicBezTo>
                  <a:pt x="381000" y="479524"/>
                  <a:pt x="352524" y="508000"/>
                  <a:pt x="317500" y="508000"/>
                </a:cubicBezTo>
                <a:lnTo>
                  <a:pt x="63500" y="508000"/>
                </a:lnTo>
                <a:cubicBezTo>
                  <a:pt x="28476" y="508000"/>
                  <a:pt x="0" y="479524"/>
                  <a:pt x="0" y="444500"/>
                </a:cubicBezTo>
                <a:lnTo>
                  <a:pt x="0" y="63500"/>
                </a:lnTo>
                <a:close/>
                <a:moveTo>
                  <a:pt x="206375" y="58043"/>
                </a:moveTo>
                <a:lnTo>
                  <a:pt x="206375" y="150813"/>
                </a:lnTo>
                <a:cubicBezTo>
                  <a:pt x="206375" y="164009"/>
                  <a:pt x="216991" y="174625"/>
                  <a:pt x="230188" y="174625"/>
                </a:cubicBezTo>
                <a:lnTo>
                  <a:pt x="322957" y="174625"/>
                </a:lnTo>
                <a:lnTo>
                  <a:pt x="206375" y="58043"/>
                </a:lnTo>
                <a:close/>
                <a:moveTo>
                  <a:pt x="119063" y="254000"/>
                </a:moveTo>
                <a:cubicBezTo>
                  <a:pt x="105866" y="254000"/>
                  <a:pt x="95250" y="264616"/>
                  <a:pt x="95250" y="277813"/>
                </a:cubicBezTo>
                <a:cubicBezTo>
                  <a:pt x="95250" y="291009"/>
                  <a:pt x="105866" y="301625"/>
                  <a:pt x="119063" y="301625"/>
                </a:cubicBezTo>
                <a:lnTo>
                  <a:pt x="261937" y="301625"/>
                </a:lnTo>
                <a:cubicBezTo>
                  <a:pt x="275134" y="301625"/>
                  <a:pt x="285750" y="291009"/>
                  <a:pt x="285750" y="277813"/>
                </a:cubicBezTo>
                <a:cubicBezTo>
                  <a:pt x="285750" y="264616"/>
                  <a:pt x="275134" y="254000"/>
                  <a:pt x="261937" y="254000"/>
                </a:cubicBezTo>
                <a:lnTo>
                  <a:pt x="119063" y="254000"/>
                </a:lnTo>
                <a:close/>
                <a:moveTo>
                  <a:pt x="119063" y="349250"/>
                </a:moveTo>
                <a:cubicBezTo>
                  <a:pt x="105866" y="349250"/>
                  <a:pt x="95250" y="359866"/>
                  <a:pt x="95250" y="373063"/>
                </a:cubicBezTo>
                <a:cubicBezTo>
                  <a:pt x="95250" y="386259"/>
                  <a:pt x="105866" y="396875"/>
                  <a:pt x="119063" y="396875"/>
                </a:cubicBezTo>
                <a:lnTo>
                  <a:pt x="261937" y="396875"/>
                </a:lnTo>
                <a:cubicBezTo>
                  <a:pt x="275134" y="396875"/>
                  <a:pt x="285750" y="386259"/>
                  <a:pt x="285750" y="373063"/>
                </a:cubicBezTo>
                <a:cubicBezTo>
                  <a:pt x="285750" y="359866"/>
                  <a:pt x="275134" y="349250"/>
                  <a:pt x="261937" y="349250"/>
                </a:cubicBezTo>
                <a:lnTo>
                  <a:pt x="119063" y="349250"/>
                </a:lnTo>
                <a:close/>
              </a:path>
            </a:pathLst>
          </a:custGeom>
          <a:solidFill>
            <a:srgbClr val="1B25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14478000" y="33655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B253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605000" y="3873500"/>
            <a:ext cx="101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1B253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Citations + telemetry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2000" y="5651500"/>
            <a:ext cx="14732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five-step pipeline is </a:t>
            </a: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central to quality</a:t>
            </a: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C9A9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Guardrails</a:t>
            </a: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prevent misuse and reduce drift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C9A9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Retrieval</a:t>
            </a: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optimizes recall; </a:t>
            </a: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reranking</a:t>
            </a: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improves precision before generation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C9A9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final answer is generated </a:t>
            </a: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only from provided context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C9A9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Response includes both </a:t>
            </a: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citations and telemetry</a:t>
            </a: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enabling measurable quality and operational visibility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 / 15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84200"/>
            <a:ext cx="508000" cy="254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kern="0" spc="100" dirty="0">
                <a:solidFill>
                  <a:srgbClr val="1B253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AND INGESTION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8B95A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quality determines answer quality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2000" y="2349500"/>
            <a:ext cx="3175000" cy="2794000"/>
          </a:xfrm>
          <a:prstGeom prst="rect">
            <a:avLst/>
          </a:prstGeom>
          <a:solidFill>
            <a:srgbClr val="1B25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178050" y="26035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57150" y="0"/>
                </a:moveTo>
                <a:cubicBezTo>
                  <a:pt x="25628" y="0"/>
                  <a:pt x="0" y="25628"/>
                  <a:pt x="0" y="57150"/>
                </a:cubicBezTo>
                <a:lnTo>
                  <a:pt x="0" y="271463"/>
                </a:lnTo>
                <a:lnTo>
                  <a:pt x="162610" y="271463"/>
                </a:lnTo>
                <a:lnTo>
                  <a:pt x="134928" y="243780"/>
                </a:lnTo>
                <a:cubicBezTo>
                  <a:pt x="126534" y="235387"/>
                  <a:pt x="126534" y="221813"/>
                  <a:pt x="134928" y="213509"/>
                </a:cubicBezTo>
                <a:cubicBezTo>
                  <a:pt x="143321" y="205204"/>
                  <a:pt x="156895" y="205115"/>
                  <a:pt x="165199" y="213509"/>
                </a:cubicBezTo>
                <a:lnTo>
                  <a:pt x="229493" y="277803"/>
                </a:lnTo>
                <a:cubicBezTo>
                  <a:pt x="237887" y="286196"/>
                  <a:pt x="237887" y="299770"/>
                  <a:pt x="229493" y="308074"/>
                </a:cubicBezTo>
                <a:lnTo>
                  <a:pt x="165199" y="372368"/>
                </a:lnTo>
                <a:cubicBezTo>
                  <a:pt x="156805" y="380762"/>
                  <a:pt x="143232" y="380762"/>
                  <a:pt x="134928" y="372368"/>
                </a:cubicBezTo>
                <a:cubicBezTo>
                  <a:pt x="126623" y="363974"/>
                  <a:pt x="126534" y="350401"/>
                  <a:pt x="134928" y="342096"/>
                </a:cubicBezTo>
                <a:lnTo>
                  <a:pt x="162610" y="314414"/>
                </a:lnTo>
                <a:lnTo>
                  <a:pt x="0" y="314414"/>
                </a:lnTo>
                <a:lnTo>
                  <a:pt x="0" y="400139"/>
                </a:lnTo>
                <a:cubicBezTo>
                  <a:pt x="0" y="431661"/>
                  <a:pt x="25628" y="457289"/>
                  <a:pt x="57150" y="457289"/>
                </a:cubicBezTo>
                <a:lnTo>
                  <a:pt x="285750" y="457289"/>
                </a:lnTo>
                <a:cubicBezTo>
                  <a:pt x="317272" y="457289"/>
                  <a:pt x="342900" y="431661"/>
                  <a:pt x="342900" y="400139"/>
                </a:cubicBezTo>
                <a:lnTo>
                  <a:pt x="342900" y="152340"/>
                </a:lnTo>
                <a:cubicBezTo>
                  <a:pt x="342900" y="137160"/>
                  <a:pt x="336917" y="122605"/>
                  <a:pt x="326201" y="111889"/>
                </a:cubicBezTo>
                <a:lnTo>
                  <a:pt x="231011" y="16699"/>
                </a:lnTo>
                <a:cubicBezTo>
                  <a:pt x="220295" y="5983"/>
                  <a:pt x="205829" y="0"/>
                  <a:pt x="190649" y="0"/>
                </a:cubicBezTo>
                <a:lnTo>
                  <a:pt x="57150" y="0"/>
                </a:lnTo>
                <a:close/>
                <a:moveTo>
                  <a:pt x="290661" y="157163"/>
                </a:moveTo>
                <a:lnTo>
                  <a:pt x="207169" y="157163"/>
                </a:lnTo>
                <a:cubicBezTo>
                  <a:pt x="195292" y="157163"/>
                  <a:pt x="185738" y="147608"/>
                  <a:pt x="185738" y="135731"/>
                </a:cubicBezTo>
                <a:lnTo>
                  <a:pt x="185738" y="52239"/>
                </a:lnTo>
                <a:lnTo>
                  <a:pt x="290661" y="157163"/>
                </a:lnTo>
                <a:close/>
              </a:path>
            </a:pathLst>
          </a:cu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016000" y="3238500"/>
            <a:ext cx="266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INGEST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746500"/>
            <a:ext cx="266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Seed and external documents normalized and prepared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64000" y="3683000"/>
            <a:ext cx="508000" cy="0"/>
          </a:xfrm>
          <a:prstGeom prst="straightConnector1">
            <a:avLst/>
          </a:prstGeom>
          <a:noFill/>
          <a:ln w="25400">
            <a:solidFill>
              <a:srgbClr val="C9A96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699000" y="2349500"/>
            <a:ext cx="3175000" cy="2794000"/>
          </a:xfrm>
          <a:prstGeom prst="rect">
            <a:avLst/>
          </a:prstGeom>
          <a:solidFill>
            <a:srgbClr val="1B25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6057900" y="2603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1450" y="228600"/>
                </a:moveTo>
                <a:lnTo>
                  <a:pt x="136178" y="263872"/>
                </a:lnTo>
                <a:cubicBezTo>
                  <a:pt x="124926" y="259497"/>
                  <a:pt x="112782" y="257175"/>
                  <a:pt x="100013" y="257175"/>
                </a:cubicBezTo>
                <a:cubicBezTo>
                  <a:pt x="44738" y="257175"/>
                  <a:pt x="0" y="301913"/>
                  <a:pt x="0" y="357188"/>
                </a:cubicBezTo>
                <a:cubicBezTo>
                  <a:pt x="0" y="412462"/>
                  <a:pt x="44738" y="457200"/>
                  <a:pt x="100013" y="457200"/>
                </a:cubicBezTo>
                <a:cubicBezTo>
                  <a:pt x="155287" y="457200"/>
                  <a:pt x="200025" y="412462"/>
                  <a:pt x="200025" y="357188"/>
                </a:cubicBezTo>
                <a:cubicBezTo>
                  <a:pt x="200025" y="344418"/>
                  <a:pt x="197614" y="332274"/>
                  <a:pt x="193328" y="321022"/>
                </a:cubicBezTo>
                <a:lnTo>
                  <a:pt x="445770" y="68580"/>
                </a:lnTo>
                <a:cubicBezTo>
                  <a:pt x="452110" y="62240"/>
                  <a:pt x="452110" y="52060"/>
                  <a:pt x="445770" y="45720"/>
                </a:cubicBezTo>
                <a:cubicBezTo>
                  <a:pt x="420499" y="20449"/>
                  <a:pt x="379601" y="20449"/>
                  <a:pt x="354330" y="45720"/>
                </a:cubicBezTo>
                <a:lnTo>
                  <a:pt x="228600" y="171450"/>
                </a:lnTo>
                <a:lnTo>
                  <a:pt x="193328" y="136178"/>
                </a:lnTo>
                <a:cubicBezTo>
                  <a:pt x="197703" y="124926"/>
                  <a:pt x="200025" y="112782"/>
                  <a:pt x="200025" y="100013"/>
                </a:cubicBezTo>
                <a:cubicBezTo>
                  <a:pt x="200025" y="44738"/>
                  <a:pt x="155287" y="0"/>
                  <a:pt x="100013" y="0"/>
                </a:cubicBezTo>
                <a:cubicBezTo>
                  <a:pt x="44738" y="0"/>
                  <a:pt x="0" y="44738"/>
                  <a:pt x="0" y="100013"/>
                </a:cubicBezTo>
                <a:cubicBezTo>
                  <a:pt x="0" y="155287"/>
                  <a:pt x="44738" y="200025"/>
                  <a:pt x="100013" y="200025"/>
                </a:cubicBezTo>
                <a:cubicBezTo>
                  <a:pt x="112782" y="200025"/>
                  <a:pt x="124926" y="197614"/>
                  <a:pt x="136178" y="193328"/>
                </a:cubicBezTo>
                <a:lnTo>
                  <a:pt x="171450" y="228600"/>
                </a:lnTo>
                <a:close/>
                <a:moveTo>
                  <a:pt x="258872" y="316022"/>
                </a:moveTo>
                <a:lnTo>
                  <a:pt x="354330" y="411480"/>
                </a:lnTo>
                <a:cubicBezTo>
                  <a:pt x="379601" y="436751"/>
                  <a:pt x="420499" y="436751"/>
                  <a:pt x="445770" y="411480"/>
                </a:cubicBezTo>
                <a:cubicBezTo>
                  <a:pt x="452110" y="405140"/>
                  <a:pt x="452110" y="394960"/>
                  <a:pt x="445770" y="388620"/>
                </a:cubicBezTo>
                <a:lnTo>
                  <a:pt x="316022" y="258872"/>
                </a:lnTo>
                <a:lnTo>
                  <a:pt x="258872" y="316022"/>
                </a:lnTo>
                <a:close/>
                <a:moveTo>
                  <a:pt x="57150" y="100013"/>
                </a:moveTo>
                <a:cubicBezTo>
                  <a:pt x="57150" y="76356"/>
                  <a:pt x="76356" y="57150"/>
                  <a:pt x="100012" y="57150"/>
                </a:cubicBezTo>
                <a:cubicBezTo>
                  <a:pt x="123669" y="57150"/>
                  <a:pt x="142875" y="76356"/>
                  <a:pt x="142875" y="100012"/>
                </a:cubicBezTo>
                <a:cubicBezTo>
                  <a:pt x="142875" y="123669"/>
                  <a:pt x="123669" y="142875"/>
                  <a:pt x="100013" y="142875"/>
                </a:cubicBezTo>
                <a:cubicBezTo>
                  <a:pt x="76356" y="142875"/>
                  <a:pt x="57150" y="123669"/>
                  <a:pt x="57150" y="100013"/>
                </a:cubicBezTo>
                <a:close/>
                <a:moveTo>
                  <a:pt x="100013" y="314325"/>
                </a:moveTo>
                <a:cubicBezTo>
                  <a:pt x="123669" y="314325"/>
                  <a:pt x="142875" y="333531"/>
                  <a:pt x="142875" y="357188"/>
                </a:cubicBezTo>
                <a:cubicBezTo>
                  <a:pt x="142875" y="380844"/>
                  <a:pt x="123669" y="400050"/>
                  <a:pt x="100013" y="400050"/>
                </a:cubicBezTo>
                <a:cubicBezTo>
                  <a:pt x="76356" y="400050"/>
                  <a:pt x="57150" y="380844"/>
                  <a:pt x="57150" y="357188"/>
                </a:cubicBezTo>
                <a:cubicBezTo>
                  <a:pt x="57150" y="333531"/>
                  <a:pt x="76356" y="314325"/>
                  <a:pt x="100012" y="314325"/>
                </a:cubicBezTo>
                <a:close/>
              </a:path>
            </a:pathLst>
          </a:cu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953000" y="3238500"/>
            <a:ext cx="266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CHUNK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53000" y="3746500"/>
            <a:ext cx="266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Documents chunked with strategy optimized for retrieval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01000" y="3683000"/>
            <a:ext cx="508000" cy="0"/>
          </a:xfrm>
          <a:prstGeom prst="straightConnector1">
            <a:avLst/>
          </a:prstGeom>
          <a:noFill/>
          <a:ln w="25400">
            <a:solidFill>
              <a:srgbClr val="C9A96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8636000" y="2349500"/>
            <a:ext cx="3175000" cy="2794000"/>
          </a:xfrm>
          <a:prstGeom prst="rect">
            <a:avLst/>
          </a:prstGeom>
          <a:solidFill>
            <a:srgbClr val="1B25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9994900" y="2603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/>
            </a:pathLst>
          </a:cu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8890000" y="3238500"/>
            <a:ext cx="266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90000" y="3746500"/>
            <a:ext cx="266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Embeddings generated and written to vector store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938000" y="3683000"/>
            <a:ext cx="508000" cy="0"/>
          </a:xfrm>
          <a:prstGeom prst="straightConnector1">
            <a:avLst/>
          </a:prstGeom>
          <a:noFill/>
          <a:ln w="25400">
            <a:solidFill>
              <a:srgbClr val="C9A96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12573000" y="2349500"/>
            <a:ext cx="3175000" cy="27940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13903325" y="2603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58259" y="34915"/>
                </a:moveTo>
                <a:lnTo>
                  <a:pt x="490597" y="169128"/>
                </a:lnTo>
                <a:cubicBezTo>
                  <a:pt x="515332" y="194221"/>
                  <a:pt x="515332" y="234404"/>
                  <a:pt x="490597" y="259497"/>
                </a:cubicBezTo>
                <a:lnTo>
                  <a:pt x="350937" y="400854"/>
                </a:lnTo>
                <a:cubicBezTo>
                  <a:pt x="342632" y="409248"/>
                  <a:pt x="329059" y="409337"/>
                  <a:pt x="320665" y="401032"/>
                </a:cubicBezTo>
                <a:cubicBezTo>
                  <a:pt x="312271" y="392728"/>
                  <a:pt x="312182" y="379155"/>
                  <a:pt x="320486" y="370761"/>
                </a:cubicBezTo>
                <a:lnTo>
                  <a:pt x="460147" y="229314"/>
                </a:lnTo>
                <a:cubicBezTo>
                  <a:pt x="468362" y="221010"/>
                  <a:pt x="468362" y="207526"/>
                  <a:pt x="460147" y="199221"/>
                </a:cubicBezTo>
                <a:lnTo>
                  <a:pt x="327720" y="65097"/>
                </a:lnTo>
                <a:cubicBezTo>
                  <a:pt x="319415" y="56704"/>
                  <a:pt x="319504" y="43130"/>
                  <a:pt x="327898" y="34826"/>
                </a:cubicBezTo>
                <a:cubicBezTo>
                  <a:pt x="336292" y="26521"/>
                  <a:pt x="349865" y="26610"/>
                  <a:pt x="358170" y="35004"/>
                </a:cubicBezTo>
                <a:close/>
                <a:moveTo>
                  <a:pt x="28664" y="204936"/>
                </a:moveTo>
                <a:lnTo>
                  <a:pt x="28664" y="85725"/>
                </a:lnTo>
                <a:cubicBezTo>
                  <a:pt x="28664" y="54203"/>
                  <a:pt x="54293" y="28575"/>
                  <a:pt x="85814" y="28575"/>
                </a:cubicBezTo>
                <a:lnTo>
                  <a:pt x="205026" y="28575"/>
                </a:lnTo>
                <a:cubicBezTo>
                  <a:pt x="220206" y="28575"/>
                  <a:pt x="234761" y="34558"/>
                  <a:pt x="245477" y="45274"/>
                </a:cubicBezTo>
                <a:lnTo>
                  <a:pt x="374065" y="173861"/>
                </a:lnTo>
                <a:cubicBezTo>
                  <a:pt x="396389" y="196185"/>
                  <a:pt x="396389" y="232350"/>
                  <a:pt x="374065" y="254675"/>
                </a:cubicBezTo>
                <a:lnTo>
                  <a:pt x="254853" y="373886"/>
                </a:lnTo>
                <a:cubicBezTo>
                  <a:pt x="232529" y="396210"/>
                  <a:pt x="196364" y="396210"/>
                  <a:pt x="174040" y="373886"/>
                </a:cubicBezTo>
                <a:lnTo>
                  <a:pt x="45452" y="245299"/>
                </a:lnTo>
                <a:cubicBezTo>
                  <a:pt x="34736" y="234583"/>
                  <a:pt x="28754" y="220027"/>
                  <a:pt x="28754" y="204847"/>
                </a:cubicBezTo>
                <a:close/>
                <a:moveTo>
                  <a:pt x="157252" y="128588"/>
                </a:moveTo>
                <a:cubicBezTo>
                  <a:pt x="157252" y="112817"/>
                  <a:pt x="144448" y="100013"/>
                  <a:pt x="128677" y="100013"/>
                </a:cubicBezTo>
                <a:cubicBezTo>
                  <a:pt x="112906" y="100013"/>
                  <a:pt x="100102" y="112817"/>
                  <a:pt x="100102" y="128588"/>
                </a:cubicBezTo>
                <a:cubicBezTo>
                  <a:pt x="100102" y="144358"/>
                  <a:pt x="112906" y="157163"/>
                  <a:pt x="128677" y="157163"/>
                </a:cubicBezTo>
                <a:cubicBezTo>
                  <a:pt x="144448" y="157163"/>
                  <a:pt x="157252" y="144358"/>
                  <a:pt x="157252" y="128588"/>
                </a:cubicBezTo>
                <a:close/>
              </a:path>
            </a:pathLst>
          </a:custGeom>
          <a:solidFill>
            <a:srgbClr val="1B25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12827000" y="3238500"/>
            <a:ext cx="266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B253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27000" y="3746500"/>
            <a:ext cx="266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1B253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 metadata preserved; ingestion runs tracked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5588000"/>
            <a:ext cx="14732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 metadata is carried through the entire pipeline</a:t>
            </a: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support clear source attribution.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C9A9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Ingestion activity is recorded so teams can monitor </a:t>
            </a: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freshness, throughput, and failures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C9A9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This makes the platform </a:t>
            </a: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maintainable over time</a:t>
            </a: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not just a one-time demo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C9A96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Every answer can be traced back to its original document chunk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 / 15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84200"/>
            <a:ext cx="508000" cy="254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270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kern="0" spc="100" dirty="0">
                <a:solidFill>
                  <a:srgbClr val="1B253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RELIABILITY AND OPERATIONAL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4572000" cy="3175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762000" y="1778000"/>
            <a:ext cx="4572000" cy="508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016000" y="2095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85646"/>
                </a:moveTo>
                <a:lnTo>
                  <a:pt x="191294" y="69136"/>
                </a:lnTo>
                <a:cubicBezTo>
                  <a:pt x="171450" y="41672"/>
                  <a:pt x="139621" y="25400"/>
                  <a:pt x="105648" y="25400"/>
                </a:cubicBezTo>
                <a:cubicBezTo>
                  <a:pt x="47308" y="25400"/>
                  <a:pt x="0" y="72708"/>
                  <a:pt x="0" y="131048"/>
                </a:cubicBezTo>
                <a:lnTo>
                  <a:pt x="0" y="133112"/>
                </a:lnTo>
                <a:cubicBezTo>
                  <a:pt x="0" y="151844"/>
                  <a:pt x="4921" y="171212"/>
                  <a:pt x="13176" y="190500"/>
                </a:cubicBezTo>
                <a:lnTo>
                  <a:pt x="97314" y="190500"/>
                </a:lnTo>
                <a:cubicBezTo>
                  <a:pt x="99854" y="190500"/>
                  <a:pt x="102156" y="188992"/>
                  <a:pt x="103188" y="186611"/>
                </a:cubicBezTo>
                <a:lnTo>
                  <a:pt x="128429" y="126048"/>
                </a:lnTo>
                <a:cubicBezTo>
                  <a:pt x="131366" y="119063"/>
                  <a:pt x="138192" y="114459"/>
                  <a:pt x="145733" y="114300"/>
                </a:cubicBezTo>
                <a:cubicBezTo>
                  <a:pt x="153273" y="114141"/>
                  <a:pt x="160258" y="118586"/>
                  <a:pt x="163354" y="125492"/>
                </a:cubicBezTo>
                <a:lnTo>
                  <a:pt x="204073" y="215900"/>
                </a:lnTo>
                <a:lnTo>
                  <a:pt x="236934" y="150178"/>
                </a:lnTo>
                <a:cubicBezTo>
                  <a:pt x="240189" y="143748"/>
                  <a:pt x="246777" y="139621"/>
                  <a:pt x="254000" y="139621"/>
                </a:cubicBezTo>
                <a:cubicBezTo>
                  <a:pt x="261223" y="139621"/>
                  <a:pt x="267811" y="143669"/>
                  <a:pt x="271066" y="150178"/>
                </a:cubicBezTo>
                <a:lnTo>
                  <a:pt x="289481" y="186928"/>
                </a:lnTo>
                <a:cubicBezTo>
                  <a:pt x="290592" y="189071"/>
                  <a:pt x="292735" y="190421"/>
                  <a:pt x="295196" y="190421"/>
                </a:cubicBezTo>
                <a:lnTo>
                  <a:pt x="393303" y="190421"/>
                </a:lnTo>
                <a:cubicBezTo>
                  <a:pt x="401638" y="171133"/>
                  <a:pt x="406479" y="151765"/>
                  <a:pt x="406479" y="133033"/>
                </a:cubicBezTo>
                <a:lnTo>
                  <a:pt x="406479" y="130969"/>
                </a:lnTo>
                <a:cubicBezTo>
                  <a:pt x="406400" y="72708"/>
                  <a:pt x="359093" y="25400"/>
                  <a:pt x="300752" y="25400"/>
                </a:cubicBezTo>
                <a:cubicBezTo>
                  <a:pt x="266859" y="25400"/>
                  <a:pt x="234950" y="41672"/>
                  <a:pt x="215106" y="69136"/>
                </a:cubicBezTo>
                <a:lnTo>
                  <a:pt x="203200" y="85566"/>
                </a:lnTo>
                <a:close/>
                <a:moveTo>
                  <a:pt x="372745" y="228600"/>
                </a:moveTo>
                <a:lnTo>
                  <a:pt x="295116" y="228600"/>
                </a:lnTo>
                <a:cubicBezTo>
                  <a:pt x="278289" y="228600"/>
                  <a:pt x="262890" y="219075"/>
                  <a:pt x="255349" y="203994"/>
                </a:cubicBezTo>
                <a:lnTo>
                  <a:pt x="254000" y="201295"/>
                </a:lnTo>
                <a:lnTo>
                  <a:pt x="220266" y="268843"/>
                </a:lnTo>
                <a:cubicBezTo>
                  <a:pt x="217011" y="275431"/>
                  <a:pt x="210185" y="279559"/>
                  <a:pt x="202803" y="279400"/>
                </a:cubicBezTo>
                <a:cubicBezTo>
                  <a:pt x="195421" y="279241"/>
                  <a:pt x="188833" y="274876"/>
                  <a:pt x="185817" y="268208"/>
                </a:cubicBezTo>
                <a:lnTo>
                  <a:pt x="146685" y="181293"/>
                </a:lnTo>
                <a:lnTo>
                  <a:pt x="138351" y="201295"/>
                </a:lnTo>
                <a:cubicBezTo>
                  <a:pt x="131445" y="217884"/>
                  <a:pt x="115253" y="228679"/>
                  <a:pt x="97314" y="228679"/>
                </a:cubicBezTo>
                <a:lnTo>
                  <a:pt x="33655" y="228679"/>
                </a:lnTo>
                <a:cubicBezTo>
                  <a:pt x="71120" y="287258"/>
                  <a:pt x="131286" y="341154"/>
                  <a:pt x="168910" y="369888"/>
                </a:cubicBezTo>
                <a:cubicBezTo>
                  <a:pt x="178753" y="377349"/>
                  <a:pt x="190818" y="381079"/>
                  <a:pt x="203121" y="381079"/>
                </a:cubicBezTo>
                <a:cubicBezTo>
                  <a:pt x="215424" y="381079"/>
                  <a:pt x="227568" y="377428"/>
                  <a:pt x="237331" y="369888"/>
                </a:cubicBezTo>
                <a:cubicBezTo>
                  <a:pt x="275114" y="341074"/>
                  <a:pt x="335280" y="287179"/>
                  <a:pt x="372745" y="228600"/>
                </a:cubicBezTo>
                <a:close/>
              </a:path>
            </a:pathLst>
          </a:cu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587500" y="2095500"/>
            <a:ext cx="3492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53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CHECKS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730500"/>
            <a:ext cx="406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Continuous health checks for API, database, and vector store ensure all dependencies are operational before serving requests.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588000" y="1778000"/>
            <a:ext cx="4572000" cy="3175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5588000" y="1778000"/>
            <a:ext cx="4572000" cy="508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5892800" y="2095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247174" y="25400"/>
                </a:moveTo>
                <a:lnTo>
                  <a:pt x="254000" y="25400"/>
                </a:lnTo>
                <a:cubicBezTo>
                  <a:pt x="282019" y="25400"/>
                  <a:pt x="304800" y="48181"/>
                  <a:pt x="304800" y="76200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76200"/>
                </a:lnTo>
                <a:cubicBezTo>
                  <a:pt x="0" y="48181"/>
                  <a:pt x="22781" y="25400"/>
                  <a:pt x="50800" y="25400"/>
                </a:cubicBezTo>
                <a:lnTo>
                  <a:pt x="57626" y="25400"/>
                </a:lnTo>
                <a:cubicBezTo>
                  <a:pt x="66357" y="10239"/>
                  <a:pt x="82788" y="0"/>
                  <a:pt x="101600" y="0"/>
                </a:cubicBezTo>
                <a:lnTo>
                  <a:pt x="203200" y="0"/>
                </a:lnTo>
                <a:cubicBezTo>
                  <a:pt x="222012" y="0"/>
                  <a:pt x="238442" y="10239"/>
                  <a:pt x="247174" y="25400"/>
                </a:cubicBezTo>
                <a:close/>
                <a:moveTo>
                  <a:pt x="196850" y="88900"/>
                </a:moveTo>
                <a:cubicBezTo>
                  <a:pt x="207407" y="88900"/>
                  <a:pt x="215900" y="80407"/>
                  <a:pt x="215900" y="69850"/>
                </a:cubicBezTo>
                <a:cubicBezTo>
                  <a:pt x="215900" y="59293"/>
                  <a:pt x="207407" y="50800"/>
                  <a:pt x="196850" y="50800"/>
                </a:cubicBezTo>
                <a:lnTo>
                  <a:pt x="107950" y="50800"/>
                </a:lnTo>
                <a:cubicBezTo>
                  <a:pt x="97393" y="50800"/>
                  <a:pt x="88900" y="59293"/>
                  <a:pt x="88900" y="69850"/>
                </a:cubicBezTo>
                <a:cubicBezTo>
                  <a:pt x="88900" y="80407"/>
                  <a:pt x="97393" y="88900"/>
                  <a:pt x="107950" y="88900"/>
                </a:cubicBezTo>
                <a:lnTo>
                  <a:pt x="196850" y="88900"/>
                </a:lnTo>
                <a:close/>
                <a:moveTo>
                  <a:pt x="101600" y="203200"/>
                </a:moveTo>
                <a:cubicBezTo>
                  <a:pt x="101600" y="189181"/>
                  <a:pt x="90219" y="177800"/>
                  <a:pt x="76200" y="177800"/>
                </a:cubicBezTo>
                <a:cubicBezTo>
                  <a:pt x="62181" y="177800"/>
                  <a:pt x="50800" y="189181"/>
                  <a:pt x="50800" y="203200"/>
                </a:cubicBezTo>
                <a:cubicBezTo>
                  <a:pt x="50800" y="217219"/>
                  <a:pt x="62181" y="228600"/>
                  <a:pt x="76200" y="228600"/>
                </a:cubicBezTo>
                <a:cubicBezTo>
                  <a:pt x="90219" y="228600"/>
                  <a:pt x="101600" y="217219"/>
                  <a:pt x="101600" y="203200"/>
                </a:cubicBezTo>
                <a:close/>
                <a:moveTo>
                  <a:pt x="127000" y="203200"/>
                </a:moveTo>
                <a:cubicBezTo>
                  <a:pt x="127000" y="213757"/>
                  <a:pt x="135493" y="222250"/>
                  <a:pt x="146050" y="222250"/>
                </a:cubicBezTo>
                <a:lnTo>
                  <a:pt x="234950" y="222250"/>
                </a:lnTo>
                <a:cubicBezTo>
                  <a:pt x="245507" y="222250"/>
                  <a:pt x="254000" y="213757"/>
                  <a:pt x="254000" y="203200"/>
                </a:cubicBezTo>
                <a:cubicBezTo>
                  <a:pt x="254000" y="192643"/>
                  <a:pt x="245507" y="184150"/>
                  <a:pt x="234950" y="184150"/>
                </a:cubicBezTo>
                <a:lnTo>
                  <a:pt x="146050" y="184150"/>
                </a:lnTo>
                <a:cubicBezTo>
                  <a:pt x="135493" y="184150"/>
                  <a:pt x="127000" y="192643"/>
                  <a:pt x="127000" y="203200"/>
                </a:cubicBezTo>
                <a:close/>
                <a:moveTo>
                  <a:pt x="127000" y="304800"/>
                </a:moveTo>
                <a:cubicBezTo>
                  <a:pt x="127000" y="315357"/>
                  <a:pt x="135493" y="323850"/>
                  <a:pt x="146050" y="323850"/>
                </a:cubicBezTo>
                <a:lnTo>
                  <a:pt x="234950" y="323850"/>
                </a:lnTo>
                <a:cubicBezTo>
                  <a:pt x="245507" y="323850"/>
                  <a:pt x="254000" y="315357"/>
                  <a:pt x="254000" y="304800"/>
                </a:cubicBezTo>
                <a:cubicBezTo>
                  <a:pt x="254000" y="294243"/>
                  <a:pt x="245507" y="285750"/>
                  <a:pt x="234950" y="285750"/>
                </a:cubicBezTo>
                <a:lnTo>
                  <a:pt x="146050" y="285750"/>
                </a:lnTo>
                <a:cubicBezTo>
                  <a:pt x="135493" y="285750"/>
                  <a:pt x="127000" y="294243"/>
                  <a:pt x="127000" y="304800"/>
                </a:cubicBezTo>
                <a:close/>
                <a:moveTo>
                  <a:pt x="76200" y="330200"/>
                </a:moveTo>
                <a:cubicBezTo>
                  <a:pt x="90219" y="330200"/>
                  <a:pt x="101600" y="318819"/>
                  <a:pt x="101600" y="304800"/>
                </a:cubicBezTo>
                <a:cubicBezTo>
                  <a:pt x="101600" y="290781"/>
                  <a:pt x="90219" y="279400"/>
                  <a:pt x="76200" y="279400"/>
                </a:cubicBezTo>
                <a:cubicBezTo>
                  <a:pt x="62181" y="279400"/>
                  <a:pt x="50800" y="290781"/>
                  <a:pt x="50800" y="304800"/>
                </a:cubicBezTo>
                <a:cubicBezTo>
                  <a:pt x="50800" y="318819"/>
                  <a:pt x="62181" y="330200"/>
                  <a:pt x="76200" y="330200"/>
                </a:cubicBezTo>
                <a:close/>
              </a:path>
            </a:pathLst>
          </a:cu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413500" y="2095500"/>
            <a:ext cx="3492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53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STRUCTURED LOGGING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42000" y="2730500"/>
            <a:ext cx="406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Structured request logging and query-level audit records enable diagnostics, incident review, and usage pattern analysis.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414000" y="1778000"/>
            <a:ext cx="4572000" cy="3175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10414000" y="1778000"/>
            <a:ext cx="4572000" cy="508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10642600" y="2095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28600" y="50800"/>
                </a:moveTo>
                <a:cubicBezTo>
                  <a:pt x="312738" y="50800"/>
                  <a:pt x="381000" y="119063"/>
                  <a:pt x="381000" y="203200"/>
                </a:cubicBezTo>
                <a:cubicBezTo>
                  <a:pt x="381000" y="287338"/>
                  <a:pt x="312738" y="355600"/>
                  <a:pt x="228600" y="355600"/>
                </a:cubicBezTo>
                <a:cubicBezTo>
                  <a:pt x="176848" y="355600"/>
                  <a:pt x="131048" y="329803"/>
                  <a:pt x="103505" y="290274"/>
                </a:cubicBezTo>
                <a:cubicBezTo>
                  <a:pt x="95488" y="278765"/>
                  <a:pt x="79613" y="275987"/>
                  <a:pt x="68104" y="284004"/>
                </a:cubicBezTo>
                <a:cubicBezTo>
                  <a:pt x="56594" y="292021"/>
                  <a:pt x="53816" y="307896"/>
                  <a:pt x="61833" y="319405"/>
                </a:cubicBezTo>
                <a:cubicBezTo>
                  <a:pt x="98504" y="371951"/>
                  <a:pt x="159544" y="406400"/>
                  <a:pt x="228600" y="406400"/>
                </a:cubicBezTo>
                <a:cubicBezTo>
                  <a:pt x="340836" y="406400"/>
                  <a:pt x="431800" y="315436"/>
                  <a:pt x="431800" y="203200"/>
                </a:cubicBezTo>
                <a:cubicBezTo>
                  <a:pt x="431800" y="90964"/>
                  <a:pt x="340836" y="0"/>
                  <a:pt x="228600" y="0"/>
                </a:cubicBezTo>
                <a:cubicBezTo>
                  <a:pt x="160576" y="0"/>
                  <a:pt x="100409" y="33417"/>
                  <a:pt x="63500" y="84693"/>
                </a:cubicBezTo>
                <a:lnTo>
                  <a:pt x="63500" y="63500"/>
                </a:lnTo>
                <a:cubicBezTo>
                  <a:pt x="63500" y="49451"/>
                  <a:pt x="52149" y="38100"/>
                  <a:pt x="38100" y="38100"/>
                </a:cubicBezTo>
                <a:cubicBezTo>
                  <a:pt x="24051" y="38100"/>
                  <a:pt x="12700" y="49451"/>
                  <a:pt x="12700" y="63500"/>
                </a:cubicBezTo>
                <a:lnTo>
                  <a:pt x="12700" y="152400"/>
                </a:lnTo>
                <a:cubicBezTo>
                  <a:pt x="12700" y="166449"/>
                  <a:pt x="24051" y="177800"/>
                  <a:pt x="38100" y="177800"/>
                </a:cubicBezTo>
                <a:lnTo>
                  <a:pt x="57626" y="177800"/>
                </a:lnTo>
                <a:cubicBezTo>
                  <a:pt x="58023" y="177800"/>
                  <a:pt x="58420" y="177800"/>
                  <a:pt x="58817" y="177800"/>
                </a:cubicBezTo>
                <a:lnTo>
                  <a:pt x="127079" y="177800"/>
                </a:lnTo>
                <a:cubicBezTo>
                  <a:pt x="141129" y="177800"/>
                  <a:pt x="152479" y="166449"/>
                  <a:pt x="152479" y="152400"/>
                </a:cubicBezTo>
                <a:cubicBezTo>
                  <a:pt x="152479" y="138351"/>
                  <a:pt x="141129" y="127000"/>
                  <a:pt x="127079" y="127000"/>
                </a:cubicBezTo>
                <a:lnTo>
                  <a:pt x="96679" y="127000"/>
                </a:lnTo>
                <a:cubicBezTo>
                  <a:pt x="122952" y="81439"/>
                  <a:pt x="172244" y="50800"/>
                  <a:pt x="228600" y="50800"/>
                </a:cubicBezTo>
                <a:close/>
                <a:moveTo>
                  <a:pt x="247650" y="120650"/>
                </a:moveTo>
                <a:cubicBezTo>
                  <a:pt x="247650" y="110093"/>
                  <a:pt x="239157" y="101600"/>
                  <a:pt x="228600" y="101600"/>
                </a:cubicBezTo>
                <a:cubicBezTo>
                  <a:pt x="218043" y="101600"/>
                  <a:pt x="209550" y="110093"/>
                  <a:pt x="209550" y="120650"/>
                </a:cubicBezTo>
                <a:lnTo>
                  <a:pt x="209550" y="203200"/>
                </a:lnTo>
                <a:cubicBezTo>
                  <a:pt x="209550" y="208280"/>
                  <a:pt x="211534" y="213122"/>
                  <a:pt x="215106" y="216694"/>
                </a:cubicBezTo>
                <a:lnTo>
                  <a:pt x="272256" y="273844"/>
                </a:lnTo>
                <a:cubicBezTo>
                  <a:pt x="279717" y="281305"/>
                  <a:pt x="291783" y="281305"/>
                  <a:pt x="299164" y="273844"/>
                </a:cubicBezTo>
                <a:cubicBezTo>
                  <a:pt x="306546" y="266383"/>
                  <a:pt x="306626" y="254317"/>
                  <a:pt x="299164" y="246936"/>
                </a:cubicBezTo>
                <a:lnTo>
                  <a:pt x="247571" y="195342"/>
                </a:lnTo>
                <a:lnTo>
                  <a:pt x="247571" y="120650"/>
                </a:lnTo>
                <a:close/>
              </a:path>
            </a:pathLst>
          </a:cu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1239500" y="2095500"/>
            <a:ext cx="3492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53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TIMEOUT HANDLING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668000" y="2730500"/>
            <a:ext cx="406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Timeout handling on both frontend and backend prevents hung requests and delivers user-friendly failure responses.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2000" y="5270500"/>
            <a:ext cx="6921500" cy="3048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762000" y="5270500"/>
            <a:ext cx="6921500" cy="508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1041400" y="5588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268923" y="-7858"/>
                </a:moveTo>
                <a:cubicBezTo>
                  <a:pt x="278368" y="-1032"/>
                  <a:pt x="281861" y="11351"/>
                  <a:pt x="277574" y="22146"/>
                </a:cubicBezTo>
                <a:lnTo>
                  <a:pt x="215344" y="177800"/>
                </a:lnTo>
                <a:lnTo>
                  <a:pt x="330200" y="177800"/>
                </a:lnTo>
                <a:cubicBezTo>
                  <a:pt x="340916" y="177800"/>
                  <a:pt x="350441" y="184468"/>
                  <a:pt x="354092" y="194548"/>
                </a:cubicBezTo>
                <a:cubicBezTo>
                  <a:pt x="357743" y="204629"/>
                  <a:pt x="354648" y="215900"/>
                  <a:pt x="346472" y="222726"/>
                </a:cubicBezTo>
                <a:lnTo>
                  <a:pt x="117872" y="413226"/>
                </a:lnTo>
                <a:cubicBezTo>
                  <a:pt x="108903" y="420688"/>
                  <a:pt x="96123" y="421084"/>
                  <a:pt x="86678" y="414258"/>
                </a:cubicBezTo>
                <a:cubicBezTo>
                  <a:pt x="77232" y="407432"/>
                  <a:pt x="73739" y="395049"/>
                  <a:pt x="78026" y="384254"/>
                </a:cubicBezTo>
                <a:lnTo>
                  <a:pt x="140256" y="228600"/>
                </a:lnTo>
                <a:lnTo>
                  <a:pt x="25400" y="228600"/>
                </a:lnTo>
                <a:cubicBezTo>
                  <a:pt x="14684" y="228600"/>
                  <a:pt x="5159" y="221933"/>
                  <a:pt x="1508" y="211852"/>
                </a:cubicBezTo>
                <a:cubicBezTo>
                  <a:pt x="-2143" y="201771"/>
                  <a:pt x="952" y="190500"/>
                  <a:pt x="9128" y="183674"/>
                </a:cubicBezTo>
                <a:lnTo>
                  <a:pt x="237728" y="-6826"/>
                </a:lnTo>
                <a:cubicBezTo>
                  <a:pt x="246698" y="-14288"/>
                  <a:pt x="259477" y="-14684"/>
                  <a:pt x="268923" y="-7858"/>
                </a:cubicBezTo>
                <a:close/>
              </a:path>
            </a:pathLst>
          </a:cu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1587500" y="5588000"/>
            <a:ext cx="3492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53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GRACEFAILOVER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6000" y="6223000"/>
            <a:ext cx="6413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Graceful handling for model rate limits and transient upstream failures. Fallback model support reduces downtime impact during quota events.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064500" y="5270500"/>
            <a:ext cx="6921500" cy="3048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8064500" y="5270500"/>
            <a:ext cx="6921500" cy="508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8318500" y="558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8890000" y="5588000"/>
            <a:ext cx="3492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53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RESILIENCE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18500" y="6223000"/>
            <a:ext cx="6413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Improved resilience against timeout, rate-limit, and connection edge cases. Stable startup and container orchestration.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 / 15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84200"/>
            <a:ext cx="508000" cy="254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kern="0" spc="100" dirty="0">
                <a:solidFill>
                  <a:srgbClr val="1B253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AND GOVERNANCE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7112000" cy="6350000"/>
          </a:xfrm>
          <a:prstGeom prst="rect">
            <a:avLst/>
          </a:prstGeom>
          <a:solidFill>
            <a:srgbClr val="1B25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143000" y="20955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C9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CONTROL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794000"/>
            <a:ext cx="63500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9A9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Bearer token API protection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all endpoints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C9A9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Guardrail-based scope control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constrains queries to approved domains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C9A9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Environment variable separation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keeps configuration externalized for safer deployments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C9A9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Containerized boundaries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enforce service isolation at the infrastructure level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55000" y="1778000"/>
            <a:ext cx="7112000" cy="6350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636000" y="20955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B253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AUDIT AND COMPLIANCE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36000" y="2794000"/>
            <a:ext cx="63500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9A9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Audit-ready logs</a:t>
            </a: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capture user query history and latency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C9A9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Teams can </a:t>
            </a:r>
            <a:r>
              <a:rPr lang="en-US" sz="1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 usage patterns</a:t>
            </a: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troubleshoot incidents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C9A9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Supports </a:t>
            </a:r>
            <a:r>
              <a:rPr lang="en-US" sz="1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compliance workflows</a:t>
            </a: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full traceability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C9A9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Query and retrieval metadata logged for </a:t>
            </a:r>
            <a:r>
              <a:rPr lang="en-US" sz="1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downstream analysis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 / 15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84200"/>
            <a:ext cx="508000" cy="254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397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kern="0" spc="100" dirty="0">
                <a:solidFill>
                  <a:srgbClr val="1B253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STATUS AND DEMONSTRATED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62000" y="1651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53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platform is operational and demonstrably useful.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413000"/>
            <a:ext cx="4572000" cy="2921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762000" y="2413000"/>
            <a:ext cx="4572000" cy="508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016000" y="279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285750"/>
                </a:moveTo>
                <a:lnTo>
                  <a:pt x="21878" y="285750"/>
                </a:lnTo>
                <a:cubicBezTo>
                  <a:pt x="-357" y="285750"/>
                  <a:pt x="-14020" y="261551"/>
                  <a:pt x="-2590" y="242441"/>
                </a:cubicBezTo>
                <a:lnTo>
                  <a:pt x="44648" y="163681"/>
                </a:lnTo>
                <a:cubicBezTo>
                  <a:pt x="52417" y="150733"/>
                  <a:pt x="66348" y="142875"/>
                  <a:pt x="81439" y="142875"/>
                </a:cubicBezTo>
                <a:lnTo>
                  <a:pt x="166271" y="142875"/>
                </a:lnTo>
                <a:cubicBezTo>
                  <a:pt x="234226" y="27771"/>
                  <a:pt x="335578" y="21967"/>
                  <a:pt x="403354" y="31879"/>
                </a:cubicBezTo>
                <a:cubicBezTo>
                  <a:pt x="414784" y="33576"/>
                  <a:pt x="423714" y="42505"/>
                  <a:pt x="425321" y="53846"/>
                </a:cubicBezTo>
                <a:cubicBezTo>
                  <a:pt x="435233" y="121622"/>
                  <a:pt x="429429" y="222974"/>
                  <a:pt x="314325" y="290929"/>
                </a:cubicBezTo>
                <a:lnTo>
                  <a:pt x="314325" y="375761"/>
                </a:lnTo>
                <a:cubicBezTo>
                  <a:pt x="314325" y="390852"/>
                  <a:pt x="306467" y="404783"/>
                  <a:pt x="293519" y="412552"/>
                </a:cubicBezTo>
                <a:lnTo>
                  <a:pt x="214759" y="459790"/>
                </a:lnTo>
                <a:cubicBezTo>
                  <a:pt x="195739" y="471220"/>
                  <a:pt x="171450" y="457468"/>
                  <a:pt x="171450" y="435322"/>
                </a:cubicBezTo>
                <a:lnTo>
                  <a:pt x="171450" y="342900"/>
                </a:lnTo>
                <a:cubicBezTo>
                  <a:pt x="171450" y="311378"/>
                  <a:pt x="145822" y="285750"/>
                  <a:pt x="114300" y="285750"/>
                </a:cubicBezTo>
                <a:lnTo>
                  <a:pt x="114211" y="285750"/>
                </a:lnTo>
                <a:close/>
                <a:moveTo>
                  <a:pt x="357188" y="142875"/>
                </a:moveTo>
                <a:cubicBezTo>
                  <a:pt x="357188" y="119219"/>
                  <a:pt x="337981" y="100013"/>
                  <a:pt x="314325" y="100013"/>
                </a:cubicBezTo>
                <a:cubicBezTo>
                  <a:pt x="290669" y="100013"/>
                  <a:pt x="271463" y="119219"/>
                  <a:pt x="271463" y="142875"/>
                </a:cubicBezTo>
                <a:cubicBezTo>
                  <a:pt x="271463" y="166531"/>
                  <a:pt x="290669" y="185738"/>
                  <a:pt x="314325" y="185738"/>
                </a:cubicBezTo>
                <a:cubicBezTo>
                  <a:pt x="337981" y="185738"/>
                  <a:pt x="357188" y="166531"/>
                  <a:pt x="357188" y="142875"/>
                </a:cubicBezTo>
                <a:close/>
              </a:path>
            </a:pathLst>
          </a:cu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016000" y="3492500"/>
            <a:ext cx="406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Live Querying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Queries served through both API and Streamlit UI with grounded, traceable responses.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588000" y="2413000"/>
            <a:ext cx="4572000" cy="2921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5588000" y="2413000"/>
            <a:ext cx="4572000" cy="508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5813425" y="2794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74600" y="85725"/>
                </a:moveTo>
                <a:cubicBezTo>
                  <a:pt x="359777" y="85725"/>
                  <a:pt x="345400" y="89743"/>
                  <a:pt x="332809" y="97066"/>
                </a:cubicBezTo>
                <a:cubicBezTo>
                  <a:pt x="318701" y="82778"/>
                  <a:pt x="302270" y="70812"/>
                  <a:pt x="284143" y="61793"/>
                </a:cubicBezTo>
                <a:cubicBezTo>
                  <a:pt x="309324" y="40362"/>
                  <a:pt x="341382" y="28575"/>
                  <a:pt x="374600" y="28575"/>
                </a:cubicBezTo>
                <a:cubicBezTo>
                  <a:pt x="451753" y="28575"/>
                  <a:pt x="514350" y="91083"/>
                  <a:pt x="514350" y="168325"/>
                </a:cubicBezTo>
                <a:cubicBezTo>
                  <a:pt x="514350" y="205383"/>
                  <a:pt x="499616" y="240923"/>
                  <a:pt x="473452" y="267087"/>
                </a:cubicBezTo>
                <a:lnTo>
                  <a:pt x="409962" y="330577"/>
                </a:lnTo>
                <a:cubicBezTo>
                  <a:pt x="383798" y="356741"/>
                  <a:pt x="348258" y="371475"/>
                  <a:pt x="311200" y="371475"/>
                </a:cubicBezTo>
                <a:cubicBezTo>
                  <a:pt x="234047" y="371475"/>
                  <a:pt x="171450" y="308967"/>
                  <a:pt x="171450" y="231725"/>
                </a:cubicBezTo>
                <a:cubicBezTo>
                  <a:pt x="171450" y="230386"/>
                  <a:pt x="171450" y="229046"/>
                  <a:pt x="171539" y="227707"/>
                </a:cubicBezTo>
                <a:cubicBezTo>
                  <a:pt x="171986" y="211901"/>
                  <a:pt x="185112" y="199489"/>
                  <a:pt x="200918" y="199936"/>
                </a:cubicBezTo>
                <a:cubicBezTo>
                  <a:pt x="216724" y="200382"/>
                  <a:pt x="229136" y="213509"/>
                  <a:pt x="228689" y="229314"/>
                </a:cubicBezTo>
                <a:cubicBezTo>
                  <a:pt x="228689" y="230118"/>
                  <a:pt x="228689" y="230922"/>
                  <a:pt x="228689" y="231636"/>
                </a:cubicBezTo>
                <a:cubicBezTo>
                  <a:pt x="228689" y="277267"/>
                  <a:pt x="265658" y="314236"/>
                  <a:pt x="311289" y="314236"/>
                </a:cubicBezTo>
                <a:cubicBezTo>
                  <a:pt x="333167" y="314236"/>
                  <a:pt x="354151" y="305574"/>
                  <a:pt x="369689" y="290036"/>
                </a:cubicBezTo>
                <a:lnTo>
                  <a:pt x="433179" y="226546"/>
                </a:lnTo>
                <a:cubicBezTo>
                  <a:pt x="448628" y="211098"/>
                  <a:pt x="457379" y="190024"/>
                  <a:pt x="457379" y="168146"/>
                </a:cubicBezTo>
                <a:cubicBezTo>
                  <a:pt x="457379" y="122515"/>
                  <a:pt x="420410" y="85546"/>
                  <a:pt x="374779" y="85546"/>
                </a:cubicBezTo>
                <a:close/>
                <a:moveTo>
                  <a:pt x="245745" y="154751"/>
                </a:moveTo>
                <a:cubicBezTo>
                  <a:pt x="244048" y="154037"/>
                  <a:pt x="242352" y="153055"/>
                  <a:pt x="240834" y="151983"/>
                </a:cubicBezTo>
                <a:cubicBezTo>
                  <a:pt x="229582" y="146179"/>
                  <a:pt x="216724" y="142875"/>
                  <a:pt x="203240" y="142875"/>
                </a:cubicBezTo>
                <a:cubicBezTo>
                  <a:pt x="181362" y="142875"/>
                  <a:pt x="160377" y="151537"/>
                  <a:pt x="144840" y="167074"/>
                </a:cubicBezTo>
                <a:lnTo>
                  <a:pt x="81349" y="230565"/>
                </a:lnTo>
                <a:cubicBezTo>
                  <a:pt x="65901" y="246013"/>
                  <a:pt x="57150" y="267087"/>
                  <a:pt x="57150" y="288965"/>
                </a:cubicBezTo>
                <a:cubicBezTo>
                  <a:pt x="57150" y="334595"/>
                  <a:pt x="94119" y="371564"/>
                  <a:pt x="139750" y="371564"/>
                </a:cubicBezTo>
                <a:cubicBezTo>
                  <a:pt x="154484" y="371564"/>
                  <a:pt x="168860" y="367635"/>
                  <a:pt x="181451" y="360313"/>
                </a:cubicBezTo>
                <a:cubicBezTo>
                  <a:pt x="195560" y="374600"/>
                  <a:pt x="211991" y="386566"/>
                  <a:pt x="230207" y="395585"/>
                </a:cubicBezTo>
                <a:cubicBezTo>
                  <a:pt x="205026" y="416927"/>
                  <a:pt x="173057" y="428804"/>
                  <a:pt x="139750" y="428804"/>
                </a:cubicBezTo>
                <a:cubicBezTo>
                  <a:pt x="62597" y="428804"/>
                  <a:pt x="0" y="366296"/>
                  <a:pt x="0" y="289054"/>
                </a:cubicBezTo>
                <a:cubicBezTo>
                  <a:pt x="0" y="251996"/>
                  <a:pt x="14734" y="216456"/>
                  <a:pt x="40898" y="190292"/>
                </a:cubicBezTo>
                <a:lnTo>
                  <a:pt x="104388" y="126802"/>
                </a:lnTo>
                <a:cubicBezTo>
                  <a:pt x="130552" y="100638"/>
                  <a:pt x="166092" y="85904"/>
                  <a:pt x="203150" y="85904"/>
                </a:cubicBezTo>
                <a:cubicBezTo>
                  <a:pt x="280481" y="85904"/>
                  <a:pt x="342900" y="148947"/>
                  <a:pt x="342900" y="226010"/>
                </a:cubicBezTo>
                <a:cubicBezTo>
                  <a:pt x="342900" y="227171"/>
                  <a:pt x="342900" y="228332"/>
                  <a:pt x="342900" y="229493"/>
                </a:cubicBezTo>
                <a:cubicBezTo>
                  <a:pt x="342543" y="245299"/>
                  <a:pt x="329416" y="257711"/>
                  <a:pt x="313611" y="257354"/>
                </a:cubicBezTo>
                <a:cubicBezTo>
                  <a:pt x="297805" y="256996"/>
                  <a:pt x="285393" y="243870"/>
                  <a:pt x="285750" y="228064"/>
                </a:cubicBezTo>
                <a:cubicBezTo>
                  <a:pt x="285750" y="227350"/>
                  <a:pt x="285750" y="226725"/>
                  <a:pt x="285750" y="226010"/>
                </a:cubicBezTo>
                <a:cubicBezTo>
                  <a:pt x="285750" y="195917"/>
                  <a:pt x="269677" y="169485"/>
                  <a:pt x="245745" y="154930"/>
                </a:cubicBezTo>
                <a:close/>
              </a:path>
            </a:pathLst>
          </a:cu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842000" y="3492500"/>
            <a:ext cx="406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 Citations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Every response includes citations linking back to original document chunks.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414000" y="2413000"/>
            <a:ext cx="4572000" cy="2921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10414000" y="2413000"/>
            <a:ext cx="4572000" cy="508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10696575" y="2794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142875"/>
                </a:lnTo>
                <a:cubicBezTo>
                  <a:pt x="0" y="174397"/>
                  <a:pt x="25628" y="200025"/>
                  <a:pt x="57150" y="200025"/>
                </a:cubicBezTo>
                <a:lnTo>
                  <a:pt x="342900" y="200025"/>
                </a:lnTo>
                <a:cubicBezTo>
                  <a:pt x="374422" y="200025"/>
                  <a:pt x="400050" y="174397"/>
                  <a:pt x="400050" y="142875"/>
                </a:cubicBezTo>
                <a:lnTo>
                  <a:pt x="400050" y="85725"/>
                </a:lnTo>
                <a:cubicBezTo>
                  <a:pt x="400050" y="54203"/>
                  <a:pt x="374422" y="28575"/>
                  <a:pt x="342900" y="28575"/>
                </a:cubicBezTo>
                <a:lnTo>
                  <a:pt x="57150" y="28575"/>
                </a:lnTo>
                <a:close/>
                <a:moveTo>
                  <a:pt x="250031" y="92869"/>
                </a:moveTo>
                <a:cubicBezTo>
                  <a:pt x="261859" y="92869"/>
                  <a:pt x="271463" y="102472"/>
                  <a:pt x="271463" y="114300"/>
                </a:cubicBezTo>
                <a:cubicBezTo>
                  <a:pt x="271463" y="126128"/>
                  <a:pt x="261859" y="135731"/>
                  <a:pt x="250031" y="135731"/>
                </a:cubicBezTo>
                <a:cubicBezTo>
                  <a:pt x="238203" y="135731"/>
                  <a:pt x="228600" y="126128"/>
                  <a:pt x="228600" y="114300"/>
                </a:cubicBezTo>
                <a:cubicBezTo>
                  <a:pt x="228600" y="102472"/>
                  <a:pt x="238203" y="92869"/>
                  <a:pt x="250031" y="92869"/>
                </a:cubicBezTo>
                <a:close/>
                <a:moveTo>
                  <a:pt x="300038" y="114300"/>
                </a:moveTo>
                <a:cubicBezTo>
                  <a:pt x="300038" y="102472"/>
                  <a:pt x="309641" y="92869"/>
                  <a:pt x="321469" y="92869"/>
                </a:cubicBezTo>
                <a:cubicBezTo>
                  <a:pt x="333297" y="92869"/>
                  <a:pt x="342900" y="102472"/>
                  <a:pt x="342900" y="114300"/>
                </a:cubicBezTo>
                <a:cubicBezTo>
                  <a:pt x="342900" y="126128"/>
                  <a:pt x="333297" y="135731"/>
                  <a:pt x="321469" y="135731"/>
                </a:cubicBezTo>
                <a:cubicBezTo>
                  <a:pt x="309641" y="135731"/>
                  <a:pt x="300038" y="126128"/>
                  <a:pt x="300038" y="114300"/>
                </a:cubicBezTo>
                <a:close/>
                <a:moveTo>
                  <a:pt x="57150" y="257175"/>
                </a:moveTo>
                <a:cubicBezTo>
                  <a:pt x="25628" y="257175"/>
                  <a:pt x="0" y="282803"/>
                  <a:pt x="0" y="31432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342900" y="428625"/>
                </a:lnTo>
                <a:cubicBezTo>
                  <a:pt x="374422" y="428625"/>
                  <a:pt x="400050" y="402997"/>
                  <a:pt x="400050" y="371475"/>
                </a:cubicBezTo>
                <a:lnTo>
                  <a:pt x="400050" y="314325"/>
                </a:lnTo>
                <a:cubicBezTo>
                  <a:pt x="400050" y="282803"/>
                  <a:pt x="374422" y="257175"/>
                  <a:pt x="342900" y="257175"/>
                </a:cubicBezTo>
                <a:lnTo>
                  <a:pt x="57150" y="257175"/>
                </a:lnTo>
                <a:close/>
                <a:moveTo>
                  <a:pt x="250031" y="321469"/>
                </a:moveTo>
                <a:cubicBezTo>
                  <a:pt x="261859" y="321469"/>
                  <a:pt x="271463" y="331072"/>
                  <a:pt x="271463" y="342900"/>
                </a:cubicBezTo>
                <a:cubicBezTo>
                  <a:pt x="271463" y="354728"/>
                  <a:pt x="261859" y="364331"/>
                  <a:pt x="250031" y="364331"/>
                </a:cubicBezTo>
                <a:cubicBezTo>
                  <a:pt x="238203" y="364331"/>
                  <a:pt x="228600" y="354728"/>
                  <a:pt x="228600" y="342900"/>
                </a:cubicBezTo>
                <a:cubicBezTo>
                  <a:pt x="228600" y="331072"/>
                  <a:pt x="238203" y="321469"/>
                  <a:pt x="250031" y="321469"/>
                </a:cubicBezTo>
                <a:close/>
                <a:moveTo>
                  <a:pt x="300038" y="342900"/>
                </a:moveTo>
                <a:cubicBezTo>
                  <a:pt x="300038" y="331072"/>
                  <a:pt x="309641" y="321469"/>
                  <a:pt x="321469" y="321469"/>
                </a:cubicBezTo>
                <a:cubicBezTo>
                  <a:pt x="333297" y="321469"/>
                  <a:pt x="342900" y="331072"/>
                  <a:pt x="342900" y="342900"/>
                </a:cubicBezTo>
                <a:cubicBezTo>
                  <a:pt x="342900" y="354728"/>
                  <a:pt x="333297" y="364331"/>
                  <a:pt x="321469" y="364331"/>
                </a:cubicBezTo>
                <a:cubicBezTo>
                  <a:pt x="309641" y="364331"/>
                  <a:pt x="300038" y="354728"/>
                  <a:pt x="300038" y="342900"/>
                </a:cubicBezTo>
                <a:close/>
              </a:path>
            </a:pathLst>
          </a:cu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0668000" y="3492500"/>
            <a:ext cx="406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Stable Orchestration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Container startup and orchestration proven stable across environments.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5524500"/>
            <a:ext cx="6921500" cy="2921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762000" y="5524500"/>
            <a:ext cx="6921500" cy="508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1016000" y="590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1016000" y="6604000"/>
            <a:ext cx="64135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Resilience Hardening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Improved resilience against timeout, rate-limit, and connection edge cases. Reduced user-facing failure noise from upstream model constraints.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064500" y="5524500"/>
            <a:ext cx="6921500" cy="29845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8064500" y="5524500"/>
            <a:ext cx="6921500" cy="508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8318500" y="590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28575"/>
                </a:moveTo>
                <a:cubicBezTo>
                  <a:pt x="457200" y="125105"/>
                  <a:pt x="388799" y="205651"/>
                  <a:pt x="297894" y="224492"/>
                </a:cubicBezTo>
                <a:cubicBezTo>
                  <a:pt x="290840" y="172611"/>
                  <a:pt x="267533" y="125909"/>
                  <a:pt x="233154" y="89743"/>
                </a:cubicBezTo>
                <a:cubicBezTo>
                  <a:pt x="268962" y="35719"/>
                  <a:pt x="330309" y="0"/>
                  <a:pt x="400050" y="0"/>
                </a:cubicBezTo>
                <a:lnTo>
                  <a:pt x="428625" y="0"/>
                </a:lnTo>
                <a:cubicBezTo>
                  <a:pt x="444431" y="0"/>
                  <a:pt x="457200" y="12769"/>
                  <a:pt x="457200" y="28575"/>
                </a:cubicBezTo>
                <a:close/>
                <a:moveTo>
                  <a:pt x="0" y="85725"/>
                </a:moveTo>
                <a:cubicBezTo>
                  <a:pt x="0" y="69919"/>
                  <a:pt x="12769" y="57150"/>
                  <a:pt x="28575" y="57150"/>
                </a:cubicBezTo>
                <a:lnTo>
                  <a:pt x="57150" y="57150"/>
                </a:lnTo>
                <a:cubicBezTo>
                  <a:pt x="167610" y="57150"/>
                  <a:pt x="257175" y="146715"/>
                  <a:pt x="257175" y="257175"/>
                </a:cubicBezTo>
                <a:lnTo>
                  <a:pt x="257175" y="428625"/>
                </a:lnTo>
                <a:cubicBezTo>
                  <a:pt x="257175" y="444431"/>
                  <a:pt x="244406" y="457200"/>
                  <a:pt x="228600" y="457200"/>
                </a:cubicBezTo>
                <a:cubicBezTo>
                  <a:pt x="212794" y="457200"/>
                  <a:pt x="200025" y="444431"/>
                  <a:pt x="200025" y="428625"/>
                </a:cubicBezTo>
                <a:lnTo>
                  <a:pt x="200025" y="285750"/>
                </a:lnTo>
                <a:cubicBezTo>
                  <a:pt x="89565" y="285750"/>
                  <a:pt x="0" y="196185"/>
                  <a:pt x="0" y="85725"/>
                </a:cubicBezTo>
                <a:close/>
              </a:path>
            </a:pathLst>
          </a:cu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8318500" y="6604000"/>
            <a:ext cx="64135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Practical Foundation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useful baseline for market research assistants — ready for iterative enhancement rather than a prototype stub.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 / 15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84200"/>
            <a:ext cx="508000" cy="254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kern="0" spc="100" dirty="0">
                <a:solidFill>
                  <a:srgbClr val="1B253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 AND RISK AREAS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62000" y="1651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8B95A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system is perfect. Key constraints and tradeoffs today: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413000"/>
            <a:ext cx="6921500" cy="2667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762000" y="2413000"/>
            <a:ext cx="50800" cy="2667000"/>
          </a:xfrm>
          <a:prstGeom prst="rect">
            <a:avLst/>
          </a:prstGeom>
          <a:solidFill>
            <a:srgbClr val="8B95A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079500" y="2667000"/>
            <a:ext cx="62865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Upstream Model Quotas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External model quotas can still constrain throughput during high-volume periods.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064500" y="2413000"/>
            <a:ext cx="6921500" cy="2667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8064500" y="2413000"/>
            <a:ext cx="50800" cy="2667000"/>
          </a:xfrm>
          <a:prstGeom prst="rect">
            <a:avLst/>
          </a:prstGeom>
          <a:solidFill>
            <a:srgbClr val="8B95A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8382000" y="2667000"/>
            <a:ext cx="62865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Freshness Dependency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Answer quality depends on ingestion cadence. Stale sources produce stale answers.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5397500"/>
            <a:ext cx="6921500" cy="2667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762000" y="5397500"/>
            <a:ext cx="50800" cy="2667000"/>
          </a:xfrm>
          <a:prstGeom prst="rect">
            <a:avLst/>
          </a:prstGeom>
          <a:solidFill>
            <a:srgbClr val="8B95A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079500" y="5651500"/>
            <a:ext cx="62865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Retrieval Quality Variance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Precision degrades if source quality drops or chunking strategy is suboptimal.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064500" y="5397500"/>
            <a:ext cx="6921500" cy="2667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8064500" y="5397500"/>
            <a:ext cx="50800" cy="2667000"/>
          </a:xfrm>
          <a:prstGeom prst="rect">
            <a:avLst/>
          </a:prstGeom>
          <a:solidFill>
            <a:srgbClr val="8B95A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8382000" y="5651500"/>
            <a:ext cx="62865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Guardrail Precision-Recall Tradeoff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Stricter controls improve safety but may reject borderline-valid queries.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 / 15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84200"/>
            <a:ext cx="508000" cy="254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kern="0" spc="100" dirty="0">
                <a:solidFill>
                  <a:srgbClr val="1B253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62000" y="1587500"/>
            <a:ext cx="1143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8B95A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Measurable quality and scaling reliability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270000" y="2540000"/>
            <a:ext cx="0" cy="5334000"/>
          </a:xfrm>
          <a:prstGeom prst="straightConnector1">
            <a:avLst/>
          </a:prstGeom>
          <a:noFill/>
          <a:ln w="25400">
            <a:solidFill>
              <a:srgbClr val="C9A96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168400" y="2540000"/>
            <a:ext cx="203200" cy="203200"/>
          </a:xfrm>
          <a:prstGeom prst="ellipse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651000" y="2413000"/>
            <a:ext cx="1333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Richer Fallback Model Strategy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Expand model fallback tiers with priority-based routing to reduce quota-driven downtime.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68400" y="3683000"/>
            <a:ext cx="203200" cy="203200"/>
          </a:xfrm>
          <a:prstGeom prst="ellipse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651000" y="3556000"/>
            <a:ext cx="1333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Query Rewrite for Better Recall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Improve retrieval with automatic query expansion and rewriting before embedding.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68400" y="4826000"/>
            <a:ext cx="203200" cy="203200"/>
          </a:xfrm>
          <a:prstGeom prst="ellipse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651000" y="4699000"/>
            <a:ext cx="1333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Operational Dashboard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Add real-time dashboard for latency, hit quality, and ingestion freshness monitoring.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68400" y="5969000"/>
            <a:ext cx="203200" cy="203200"/>
          </a:xfrm>
          <a:prstGeom prst="ellipse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651000" y="5842000"/>
            <a:ext cx="1333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Evaluation Suite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Introduce formal benchmarks for retrieval and answer quality with consistent baselines.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68400" y="7112000"/>
            <a:ext cx="203200" cy="203200"/>
          </a:xfrm>
          <a:prstGeom prst="ellipse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651000" y="6985000"/>
            <a:ext cx="1333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Expanded Source Connectors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Broader connectors and scheduled ingestion automation for improved coverage and freshness.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 / 15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84200"/>
            <a:ext cx="508000" cy="254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kern="0" spc="100" dirty="0">
                <a:solidFill>
                  <a:srgbClr val="1B253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VALUE AND USE CASES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62000" y="1651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253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 with trust.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413000"/>
            <a:ext cx="4572000" cy="2794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762000" y="2413000"/>
            <a:ext cx="4572000" cy="508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1016000" y="279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57175" y="85725"/>
                </a:moveTo>
                <a:cubicBezTo>
                  <a:pt x="257175" y="69954"/>
                  <a:pt x="244371" y="57150"/>
                  <a:pt x="228600" y="57150"/>
                </a:cubicBezTo>
                <a:cubicBezTo>
                  <a:pt x="212829" y="57150"/>
                  <a:pt x="200025" y="69954"/>
                  <a:pt x="200025" y="85725"/>
                </a:cubicBezTo>
                <a:cubicBezTo>
                  <a:pt x="200025" y="101496"/>
                  <a:pt x="212829" y="114300"/>
                  <a:pt x="228600" y="114300"/>
                </a:cubicBezTo>
                <a:cubicBezTo>
                  <a:pt x="244371" y="114300"/>
                  <a:pt x="257175" y="101496"/>
                  <a:pt x="257175" y="85725"/>
                </a:cubicBezTo>
                <a:close/>
                <a:moveTo>
                  <a:pt x="228600" y="371475"/>
                </a:moveTo>
                <a:cubicBezTo>
                  <a:pt x="260122" y="371475"/>
                  <a:pt x="285750" y="345847"/>
                  <a:pt x="285750" y="314325"/>
                </a:cubicBezTo>
                <a:cubicBezTo>
                  <a:pt x="285750" y="299859"/>
                  <a:pt x="280392" y="286554"/>
                  <a:pt x="271463" y="276552"/>
                </a:cubicBezTo>
                <a:lnTo>
                  <a:pt x="333524" y="152519"/>
                </a:lnTo>
                <a:cubicBezTo>
                  <a:pt x="338792" y="141893"/>
                  <a:pt x="334506" y="129034"/>
                  <a:pt x="323969" y="123765"/>
                </a:cubicBezTo>
                <a:cubicBezTo>
                  <a:pt x="313432" y="118497"/>
                  <a:pt x="300484" y="122783"/>
                  <a:pt x="295215" y="133320"/>
                </a:cubicBezTo>
                <a:lnTo>
                  <a:pt x="233154" y="257354"/>
                </a:lnTo>
                <a:cubicBezTo>
                  <a:pt x="231636" y="257264"/>
                  <a:pt x="230118" y="257175"/>
                  <a:pt x="228600" y="257175"/>
                </a:cubicBezTo>
                <a:cubicBezTo>
                  <a:pt x="197078" y="257175"/>
                  <a:pt x="171450" y="282803"/>
                  <a:pt x="171450" y="314325"/>
                </a:cubicBezTo>
                <a:cubicBezTo>
                  <a:pt x="171450" y="345847"/>
                  <a:pt x="197078" y="371475"/>
                  <a:pt x="228600" y="371475"/>
                </a:cubicBezTo>
                <a:close/>
                <a:moveTo>
                  <a:pt x="157163" y="128588"/>
                </a:moveTo>
                <a:cubicBezTo>
                  <a:pt x="157163" y="112817"/>
                  <a:pt x="144358" y="100013"/>
                  <a:pt x="128588" y="100013"/>
                </a:cubicBezTo>
                <a:cubicBezTo>
                  <a:pt x="112817" y="100013"/>
                  <a:pt x="100013" y="112817"/>
                  <a:pt x="100013" y="128588"/>
                </a:cubicBezTo>
                <a:cubicBezTo>
                  <a:pt x="100013" y="144358"/>
                  <a:pt x="112817" y="157163"/>
                  <a:pt x="128588" y="157163"/>
                </a:cubicBezTo>
                <a:cubicBezTo>
                  <a:pt x="144358" y="157163"/>
                  <a:pt x="157163" y="144358"/>
                  <a:pt x="157163" y="128588"/>
                </a:cubicBezTo>
                <a:close/>
                <a:moveTo>
                  <a:pt x="85725" y="257175"/>
                </a:moveTo>
                <a:cubicBezTo>
                  <a:pt x="101496" y="257175"/>
                  <a:pt x="114300" y="244371"/>
                  <a:pt x="114300" y="228600"/>
                </a:cubicBezTo>
                <a:cubicBezTo>
                  <a:pt x="114300" y="212829"/>
                  <a:pt x="101496" y="200025"/>
                  <a:pt x="85725" y="200025"/>
                </a:cubicBezTo>
                <a:cubicBezTo>
                  <a:pt x="69954" y="200025"/>
                  <a:pt x="57150" y="212829"/>
                  <a:pt x="57150" y="228600"/>
                </a:cubicBezTo>
                <a:cubicBezTo>
                  <a:pt x="57150" y="244371"/>
                  <a:pt x="69954" y="257175"/>
                  <a:pt x="85725" y="257175"/>
                </a:cubicBezTo>
                <a:close/>
                <a:moveTo>
                  <a:pt x="400050" y="228600"/>
                </a:moveTo>
                <a:cubicBezTo>
                  <a:pt x="400050" y="212829"/>
                  <a:pt x="387246" y="200025"/>
                  <a:pt x="371475" y="200025"/>
                </a:cubicBezTo>
                <a:cubicBezTo>
                  <a:pt x="355704" y="200025"/>
                  <a:pt x="342900" y="212829"/>
                  <a:pt x="342900" y="228600"/>
                </a:cubicBezTo>
                <a:cubicBezTo>
                  <a:pt x="342900" y="244371"/>
                  <a:pt x="355704" y="257175"/>
                  <a:pt x="371475" y="257175"/>
                </a:cubicBezTo>
                <a:cubicBezTo>
                  <a:pt x="387246" y="257175"/>
                  <a:pt x="400050" y="244371"/>
                  <a:pt x="400050" y="228600"/>
                </a:cubicBezTo>
                <a:close/>
              </a:path>
            </a:pathLst>
          </a:cu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016000" y="34925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Faster Research Cycles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Compress time-to-insight for market research and brief generation.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588000" y="2413000"/>
            <a:ext cx="4572000" cy="2794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5588000" y="2413000"/>
            <a:ext cx="4572000" cy="508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5899150" y="2794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0" y="57150"/>
                </a:moveTo>
                <a:cubicBezTo>
                  <a:pt x="0" y="25628"/>
                  <a:pt x="25628" y="0"/>
                  <a:pt x="57150" y="0"/>
                </a:cubicBezTo>
                <a:lnTo>
                  <a:pt x="190649" y="0"/>
                </a:lnTo>
                <a:cubicBezTo>
                  <a:pt x="205829" y="0"/>
                  <a:pt x="220385" y="5983"/>
                  <a:pt x="231100" y="16699"/>
                </a:cubicBezTo>
                <a:lnTo>
                  <a:pt x="326201" y="111889"/>
                </a:lnTo>
                <a:cubicBezTo>
                  <a:pt x="336917" y="122605"/>
                  <a:pt x="342900" y="137160"/>
                  <a:pt x="342900" y="152340"/>
                </a:cubicBezTo>
                <a:lnTo>
                  <a:pt x="342900" y="400050"/>
                </a:lnTo>
                <a:cubicBezTo>
                  <a:pt x="342900" y="431572"/>
                  <a:pt x="317272" y="457200"/>
                  <a:pt x="28575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57150"/>
                </a:lnTo>
                <a:close/>
                <a:moveTo>
                  <a:pt x="185738" y="52239"/>
                </a:moveTo>
                <a:lnTo>
                  <a:pt x="185738" y="135731"/>
                </a:lnTo>
                <a:cubicBezTo>
                  <a:pt x="185738" y="147608"/>
                  <a:pt x="195292" y="157163"/>
                  <a:pt x="207169" y="157163"/>
                </a:cubicBezTo>
                <a:lnTo>
                  <a:pt x="290661" y="157163"/>
                </a:lnTo>
                <a:lnTo>
                  <a:pt x="185738" y="52239"/>
                </a:lnTo>
                <a:close/>
                <a:moveTo>
                  <a:pt x="107156" y="228600"/>
                </a:moveTo>
                <a:cubicBezTo>
                  <a:pt x="95280" y="228600"/>
                  <a:pt x="85725" y="238155"/>
                  <a:pt x="85725" y="250031"/>
                </a:cubicBezTo>
                <a:cubicBezTo>
                  <a:pt x="85725" y="261908"/>
                  <a:pt x="95280" y="271463"/>
                  <a:pt x="107156" y="271463"/>
                </a:cubicBezTo>
                <a:lnTo>
                  <a:pt x="235744" y="271463"/>
                </a:lnTo>
                <a:cubicBezTo>
                  <a:pt x="247620" y="271463"/>
                  <a:pt x="257175" y="261908"/>
                  <a:pt x="257175" y="250031"/>
                </a:cubicBezTo>
                <a:cubicBezTo>
                  <a:pt x="257175" y="238155"/>
                  <a:pt x="247620" y="228600"/>
                  <a:pt x="235744" y="228600"/>
                </a:cubicBezTo>
                <a:lnTo>
                  <a:pt x="107156" y="228600"/>
                </a:lnTo>
                <a:close/>
                <a:moveTo>
                  <a:pt x="107156" y="314325"/>
                </a:moveTo>
                <a:cubicBezTo>
                  <a:pt x="95280" y="314325"/>
                  <a:pt x="85725" y="323880"/>
                  <a:pt x="85725" y="335756"/>
                </a:cubicBezTo>
                <a:cubicBezTo>
                  <a:pt x="85725" y="347633"/>
                  <a:pt x="95280" y="357188"/>
                  <a:pt x="107156" y="357188"/>
                </a:cubicBezTo>
                <a:lnTo>
                  <a:pt x="235744" y="357188"/>
                </a:lnTo>
                <a:cubicBezTo>
                  <a:pt x="247620" y="357188"/>
                  <a:pt x="257175" y="347633"/>
                  <a:pt x="257175" y="335756"/>
                </a:cubicBezTo>
                <a:cubicBezTo>
                  <a:pt x="257175" y="323880"/>
                  <a:pt x="247620" y="314325"/>
                  <a:pt x="235744" y="314325"/>
                </a:cubicBezTo>
                <a:lnTo>
                  <a:pt x="107156" y="314325"/>
                </a:lnTo>
                <a:close/>
              </a:path>
            </a:pathLst>
          </a:cu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842000" y="34925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Consistent Briefs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Better consistency in analyst brief generation with standardized sourcing.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414000" y="2413000"/>
            <a:ext cx="4572000" cy="2794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10414000" y="2413000"/>
            <a:ext cx="4572000" cy="508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10668000" y="279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71475" y="185738"/>
                </a:moveTo>
                <a:cubicBezTo>
                  <a:pt x="371475" y="226725"/>
                  <a:pt x="358170" y="264587"/>
                  <a:pt x="335756" y="295305"/>
                </a:cubicBezTo>
                <a:lnTo>
                  <a:pt x="448806" y="408444"/>
                </a:lnTo>
                <a:cubicBezTo>
                  <a:pt x="459968" y="419606"/>
                  <a:pt x="459968" y="437733"/>
                  <a:pt x="448806" y="448895"/>
                </a:cubicBezTo>
                <a:cubicBezTo>
                  <a:pt x="437644" y="460058"/>
                  <a:pt x="419517" y="460058"/>
                  <a:pt x="408355" y="448895"/>
                </a:cubicBezTo>
                <a:lnTo>
                  <a:pt x="295305" y="335756"/>
                </a:lnTo>
                <a:cubicBezTo>
                  <a:pt x="264587" y="358170"/>
                  <a:pt x="226725" y="371475"/>
                  <a:pt x="185738" y="371475"/>
                </a:cubicBezTo>
                <a:cubicBezTo>
                  <a:pt x="83135" y="371475"/>
                  <a:pt x="0" y="288340"/>
                  <a:pt x="0" y="185738"/>
                </a:cubicBezTo>
                <a:cubicBezTo>
                  <a:pt x="0" y="83135"/>
                  <a:pt x="83135" y="0"/>
                  <a:pt x="185738" y="0"/>
                </a:cubicBezTo>
                <a:cubicBezTo>
                  <a:pt x="288340" y="0"/>
                  <a:pt x="371475" y="83135"/>
                  <a:pt x="371475" y="185738"/>
                </a:cubicBezTo>
                <a:close/>
                <a:moveTo>
                  <a:pt x="185738" y="314325"/>
                </a:moveTo>
                <a:cubicBezTo>
                  <a:pt x="256707" y="314325"/>
                  <a:pt x="314325" y="256707"/>
                  <a:pt x="314325" y="185738"/>
                </a:cubicBezTo>
                <a:cubicBezTo>
                  <a:pt x="314325" y="114768"/>
                  <a:pt x="256707" y="57150"/>
                  <a:pt x="185738" y="57150"/>
                </a:cubicBezTo>
                <a:cubicBezTo>
                  <a:pt x="114768" y="57150"/>
                  <a:pt x="57150" y="114768"/>
                  <a:pt x="57150" y="185737"/>
                </a:cubicBezTo>
                <a:cubicBezTo>
                  <a:pt x="57150" y="256707"/>
                  <a:pt x="114768" y="314325"/>
                  <a:pt x="185737" y="314325"/>
                </a:cubicBezTo>
                <a:close/>
              </a:path>
            </a:pathLst>
          </a:cu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0668000" y="34925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Stronger Traceability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Every claim traceable to source for internal review and compliance.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5524500"/>
            <a:ext cx="6921500" cy="2794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762000" y="5524500"/>
            <a:ext cx="6921500" cy="508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1044575" y="5905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114300" y="-28575"/>
                </a:moveTo>
                <a:cubicBezTo>
                  <a:pt x="130106" y="-28575"/>
                  <a:pt x="142875" y="-15806"/>
                  <a:pt x="142875" y="0"/>
                </a:cubicBezTo>
                <a:lnTo>
                  <a:pt x="142875" y="85725"/>
                </a:lnTo>
                <a:lnTo>
                  <a:pt x="257175" y="85725"/>
                </a:lnTo>
                <a:lnTo>
                  <a:pt x="257175" y="0"/>
                </a:lnTo>
                <a:cubicBezTo>
                  <a:pt x="257175" y="-15806"/>
                  <a:pt x="269944" y="-28575"/>
                  <a:pt x="285750" y="-28575"/>
                </a:cubicBezTo>
                <a:cubicBezTo>
                  <a:pt x="301556" y="-28575"/>
                  <a:pt x="314325" y="-15806"/>
                  <a:pt x="314325" y="0"/>
                </a:cubicBezTo>
                <a:lnTo>
                  <a:pt x="314325" y="85725"/>
                </a:lnTo>
                <a:lnTo>
                  <a:pt x="371475" y="85725"/>
                </a:lnTo>
                <a:cubicBezTo>
                  <a:pt x="387281" y="85725"/>
                  <a:pt x="400050" y="98494"/>
                  <a:pt x="400050" y="114300"/>
                </a:cubicBezTo>
                <a:cubicBezTo>
                  <a:pt x="400050" y="130106"/>
                  <a:pt x="387281" y="142875"/>
                  <a:pt x="371475" y="142875"/>
                </a:cubicBezTo>
                <a:lnTo>
                  <a:pt x="371475" y="200025"/>
                </a:lnTo>
                <a:cubicBezTo>
                  <a:pt x="371475" y="284946"/>
                  <a:pt x="309682" y="355491"/>
                  <a:pt x="228600" y="369064"/>
                </a:cubicBezTo>
                <a:lnTo>
                  <a:pt x="228600" y="428625"/>
                </a:lnTo>
                <a:cubicBezTo>
                  <a:pt x="228600" y="444431"/>
                  <a:pt x="215831" y="457200"/>
                  <a:pt x="200025" y="457200"/>
                </a:cubicBezTo>
                <a:cubicBezTo>
                  <a:pt x="184219" y="457200"/>
                  <a:pt x="171450" y="444431"/>
                  <a:pt x="171450" y="428625"/>
                </a:cubicBezTo>
                <a:lnTo>
                  <a:pt x="171450" y="369064"/>
                </a:lnTo>
                <a:cubicBezTo>
                  <a:pt x="90368" y="355491"/>
                  <a:pt x="28575" y="284946"/>
                  <a:pt x="28575" y="200025"/>
                </a:cubicBezTo>
                <a:lnTo>
                  <a:pt x="28575" y="142875"/>
                </a:lnTo>
                <a:cubicBezTo>
                  <a:pt x="12769" y="142875"/>
                  <a:pt x="0" y="130106"/>
                  <a:pt x="0" y="114300"/>
                </a:cubicBezTo>
                <a:cubicBezTo>
                  <a:pt x="0" y="98494"/>
                  <a:pt x="12769" y="85725"/>
                  <a:pt x="28575" y="85725"/>
                </a:cubicBezTo>
                <a:lnTo>
                  <a:pt x="85725" y="85725"/>
                </a:lnTo>
                <a:lnTo>
                  <a:pt x="85725" y="0"/>
                </a:lnTo>
                <a:cubicBezTo>
                  <a:pt x="85725" y="-15806"/>
                  <a:pt x="98494" y="-28575"/>
                  <a:pt x="114300" y="-28575"/>
                </a:cubicBezTo>
                <a:close/>
              </a:path>
            </a:pathLst>
          </a:cu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1016000" y="6604000"/>
            <a:ext cx="6413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API-First Integration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Slots into existing tooling and workflows. Designed for integration, not isolation.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064500" y="5524500"/>
            <a:ext cx="6921500" cy="2794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8064500" y="5524500"/>
            <a:ext cx="6921500" cy="508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8289925" y="5905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42900" y="142875"/>
                </a:moveTo>
                <a:cubicBezTo>
                  <a:pt x="327094" y="142875"/>
                  <a:pt x="314325" y="130106"/>
                  <a:pt x="314325" y="114300"/>
                </a:cubicBezTo>
                <a:cubicBezTo>
                  <a:pt x="314325" y="98494"/>
                  <a:pt x="327094" y="85725"/>
                  <a:pt x="342900" y="85725"/>
                </a:cubicBezTo>
                <a:lnTo>
                  <a:pt x="485775" y="85725"/>
                </a:lnTo>
                <a:cubicBezTo>
                  <a:pt x="501581" y="85725"/>
                  <a:pt x="514350" y="98494"/>
                  <a:pt x="514350" y="114300"/>
                </a:cubicBezTo>
                <a:lnTo>
                  <a:pt x="514350" y="257175"/>
                </a:lnTo>
                <a:cubicBezTo>
                  <a:pt x="514350" y="272981"/>
                  <a:pt x="501581" y="285750"/>
                  <a:pt x="485775" y="285750"/>
                </a:cubicBezTo>
                <a:cubicBezTo>
                  <a:pt x="469969" y="285750"/>
                  <a:pt x="457200" y="272981"/>
                  <a:pt x="457200" y="257175"/>
                </a:cubicBezTo>
                <a:lnTo>
                  <a:pt x="457200" y="183326"/>
                </a:lnTo>
                <a:lnTo>
                  <a:pt x="305931" y="334595"/>
                </a:lnTo>
                <a:cubicBezTo>
                  <a:pt x="294769" y="345758"/>
                  <a:pt x="276642" y="345758"/>
                  <a:pt x="265480" y="334595"/>
                </a:cubicBezTo>
                <a:lnTo>
                  <a:pt x="171450" y="240476"/>
                </a:lnTo>
                <a:lnTo>
                  <a:pt x="48756" y="363081"/>
                </a:lnTo>
                <a:cubicBezTo>
                  <a:pt x="37594" y="374243"/>
                  <a:pt x="19467" y="374243"/>
                  <a:pt x="8305" y="363081"/>
                </a:cubicBezTo>
                <a:cubicBezTo>
                  <a:pt x="-2857" y="351919"/>
                  <a:pt x="-2857" y="333792"/>
                  <a:pt x="8305" y="322630"/>
                </a:cubicBezTo>
                <a:lnTo>
                  <a:pt x="151180" y="179755"/>
                </a:lnTo>
                <a:cubicBezTo>
                  <a:pt x="162342" y="168593"/>
                  <a:pt x="180469" y="168593"/>
                  <a:pt x="191631" y="179755"/>
                </a:cubicBezTo>
                <a:lnTo>
                  <a:pt x="285750" y="273874"/>
                </a:lnTo>
                <a:lnTo>
                  <a:pt x="416749" y="142875"/>
                </a:lnTo>
                <a:lnTo>
                  <a:pt x="342900" y="142875"/>
                </a:lnTo>
                <a:close/>
              </a:path>
            </a:pathLst>
          </a:cu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8318500" y="6604000"/>
            <a:ext cx="6413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Vertical Expansion Ready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Same architecture extends to additional financial domains with limited structural change.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B95A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 / 15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wio2jwpkg4yw2/mnt/agents/output/us-market-copilot/images/10_Abstract_glowing_financial_chart.png"/>
          <p:cNvPicPr>
            <a:picLocks noChangeAspect="1"/>
          </p:cNvPicPr>
          <p:nvPr/>
        </p:nvPicPr>
        <p:blipFill>
          <a:blip r:embed="rId3"/>
          <a:srcRect t="7779" b="777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419">
                  <a:alpha val="50000"/>
                </a:srgbClr>
              </a:gs>
              <a:gs pos="50000">
                <a:srgbClr val="0F1419">
                  <a:alpha val="80000"/>
                </a:srgbClr>
              </a:gs>
              <a:gs pos="100000">
                <a:srgbClr val="0F1419">
                  <a:alpha val="95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6858000" y="2540000"/>
            <a:ext cx="2540000" cy="38100"/>
          </a:xfrm>
          <a:prstGeom prst="rect">
            <a:avLst/>
          </a:prstGeom>
          <a:solidFill>
            <a:srgbClr val="C9A96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1778000" y="2794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kern="0" spc="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READY FOR GROUNDED INTELLIGENCE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048000" y="3937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Production-minded architecture. Observable. Extensible. Accountable.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048000" y="4826000"/>
            <a:ext cx="1016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C9A9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Built for grounded market intelligence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C9A9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Production-minded architecture and observability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C9A9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Strong base for scaling features and quality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C9A96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Ready for iterative deployment and stakeholder feedback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588000" y="7620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kern="0" spc="300" dirty="0">
                <a:solidFill>
                  <a:srgbClr val="C9A9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1221</Words>
  <Application>Microsoft Office PowerPoint</Application>
  <PresentationFormat>Custom</PresentationFormat>
  <Paragraphs>204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Liter</vt:lpstr>
      <vt:lpstr>Quattrocento Sans</vt:lpstr>
      <vt:lpstr>QuattrocentoSans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Market Advisory Copilot</dc:title>
  <dc:subject>US Market Advisory Copilot</dc:subject>
  <dc:creator>Kimi</dc:creator>
  <cp:lastModifiedBy>Syed Aqdas Munir</cp:lastModifiedBy>
  <cp:revision>2</cp:revision>
  <dcterms:created xsi:type="dcterms:W3CDTF">2026-04-27T05:10:32Z</dcterms:created>
  <dcterms:modified xsi:type="dcterms:W3CDTF">2026-04-27T05:14:14Z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{"Label":"US Market Advisory Copilot","ContentProducer":"001191110108MACG2KBH8F10000","ProduceID":"19dcd555-dc92-81a3-8000-0000b8721952","ReservedCode1":"","ContentPropagator":"001191110108MACG2KBH8F20000","PropagateID":"19dcd555-dc92-81a3-8000-0000b8721952","ReservedCode2":""}</vt:lpwstr>
  </property>
</Properties>
</file>